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e05eb3f5ce7434f" /><Relationship Type="http://schemas.openxmlformats.org/officeDocument/2006/relationships/extended-properties" Target="/docProps/app.xml" Id="Re5db3d0bdf034bdc" /><Relationship Type="http://schemas.openxmlformats.org/officeDocument/2006/relationships/officeDocument" Target="/ppt/presentation.xml" Id="Rcc66c33bb75c4283" /></Relationships>
</file>

<file path=ppt/presentation.xml><?xml version="1.0" encoding="utf-8"?>
<p:presentation xmlns:p="http://schemas.openxmlformats.org/presentationml/2006/main">
  <p:sldMasterIdLst>
    <p:sldMasterId xmlns:r="http://schemas.openxmlformats.org/officeDocument/2006/relationships" id="2147483648" r:id="R884995fd975745b8"/>
  </p:sldMasterIdLst>
  <p:notesMasterIdLst>
    <p:notesMasterId xmlns:r="http://schemas.openxmlformats.org/officeDocument/2006/relationships" r:id="R46116efab48a4978"/>
  </p:notesMasterIdLst>
  <p:sldIdLst>
    <p:sldId xmlns:r="http://schemas.openxmlformats.org/officeDocument/2006/relationships" id="256" r:id="Raa4857de5a264ee5"/>
    <p:sldId xmlns:r="http://schemas.openxmlformats.org/officeDocument/2006/relationships" id="257" r:id="Rbf49052b78f04b58"/>
    <p:sldId xmlns:r="http://schemas.openxmlformats.org/officeDocument/2006/relationships" id="258" r:id="R0a9bc331e2af4f2b"/>
    <p:sldId xmlns:r="http://schemas.openxmlformats.org/officeDocument/2006/relationships" id="259" r:id="R09a668030bd74cf4"/>
    <p:sldId xmlns:r="http://schemas.openxmlformats.org/officeDocument/2006/relationships" id="260" r:id="R43900ab43f4a4edb"/>
    <p:sldId xmlns:r="http://schemas.openxmlformats.org/officeDocument/2006/relationships" id="261" r:id="Rbc3ea1b374654e21"/>
    <p:sldId xmlns:r="http://schemas.openxmlformats.org/officeDocument/2006/relationships" id="262" r:id="Rcbf2ac8cbc494f67"/>
    <p:sldId xmlns:r="http://schemas.openxmlformats.org/officeDocument/2006/relationships" id="263" r:id="R57e486d304b24e42"/>
    <p:sldId xmlns:r="http://schemas.openxmlformats.org/officeDocument/2006/relationships" id="264" r:id="R4df6a2aeea8d422c"/>
    <p:sldId xmlns:r="http://schemas.openxmlformats.org/officeDocument/2006/relationships" id="265" r:id="Rbc86305068ea4a4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d0c7626d6404934" /><Relationship Type="http://schemas.openxmlformats.org/officeDocument/2006/relationships/slideMaster" Target="/ppt/slideMasters/slideMaster1.xml" Id="R884995fd975745b8" /><Relationship Type="http://schemas.openxmlformats.org/officeDocument/2006/relationships/notesMaster" Target="/ppt/notesMasters/notesMaster1.xml" Id="R46116efab48a4978" /><Relationship Type="http://schemas.openxmlformats.org/officeDocument/2006/relationships/presProps" Target="/ppt/presProps.xml" Id="R2f2c004383bd4538" /><Relationship Type="http://schemas.openxmlformats.org/officeDocument/2006/relationships/tableStyles" Target="/ppt/tableStyles.xml" Id="R9a1f5cbd21d54382" /><Relationship Type="http://schemas.openxmlformats.org/officeDocument/2006/relationships/slide" Target="/ppt/slides/slide1.xml" Id="Raa4857de5a264ee5" /><Relationship Type="http://schemas.openxmlformats.org/officeDocument/2006/relationships/slide" Target="/ppt/slides/slide2.xml" Id="Rbf49052b78f04b58" /><Relationship Type="http://schemas.openxmlformats.org/officeDocument/2006/relationships/slide" Target="/ppt/slides/slide3.xml" Id="R0a9bc331e2af4f2b" /><Relationship Type="http://schemas.openxmlformats.org/officeDocument/2006/relationships/slide" Target="/ppt/slides/slide4.xml" Id="R09a668030bd74cf4" /><Relationship Type="http://schemas.openxmlformats.org/officeDocument/2006/relationships/slide" Target="/ppt/slides/slide5.xml" Id="R43900ab43f4a4edb" /><Relationship Type="http://schemas.openxmlformats.org/officeDocument/2006/relationships/slide" Target="/ppt/slides/slide6.xml" Id="Rbc3ea1b374654e21" /><Relationship Type="http://schemas.openxmlformats.org/officeDocument/2006/relationships/slide" Target="/ppt/slides/slide7.xml" Id="Rcbf2ac8cbc494f67" /><Relationship Type="http://schemas.openxmlformats.org/officeDocument/2006/relationships/slide" Target="/ppt/slides/slide8.xml" Id="R57e486d304b24e42" /><Relationship Type="http://schemas.openxmlformats.org/officeDocument/2006/relationships/slide" Target="/ppt/slides/slide9.xml" Id="R4df6a2aeea8d422c" /><Relationship Type="http://schemas.openxmlformats.org/officeDocument/2006/relationships/slide" Target="/ppt/slides/slide10.xml" Id="Rbc86305068ea4a4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0a91075b3e0400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14be7251fb148a1" /><Relationship Type="http://schemas.openxmlformats.org/officeDocument/2006/relationships/notesMaster" Target="/ppt/notesMasters/notesMaster1.xml" Id="Rfc34c2e5e11342e8" /></Relationships>
</file>

<file path=ppt/notesSlides/_rels/notesSlide2.xml.rels>&#65279;<?xml version="1.0" encoding="utf-8"?><Relationships xmlns="http://schemas.openxmlformats.org/package/2006/relationships"><Relationship Type="http://schemas.openxmlformats.org/officeDocument/2006/relationships/slide" Target="/ppt/slides/slide2.xml" Id="R9ffce4a19ec04316" /><Relationship Type="http://schemas.openxmlformats.org/officeDocument/2006/relationships/notesMaster" Target="/ppt/notesMasters/notesMaster1.xml" Id="Rb277d6ae3125452e" /></Relationships>
</file>

<file path=ppt/notesSlides/_rels/notesSlide3.xml.rels>&#65279;<?xml version="1.0" encoding="utf-8"?><Relationships xmlns="http://schemas.openxmlformats.org/package/2006/relationships"><Relationship Type="http://schemas.openxmlformats.org/officeDocument/2006/relationships/slide" Target="/ppt/slides/slide3.xml" Id="R444b0ab0f6c34ed6" /><Relationship Type="http://schemas.openxmlformats.org/officeDocument/2006/relationships/notesMaster" Target="/ppt/notesMasters/notesMaster1.xml" Id="R15707fae9df848c3" /></Relationships>
</file>

<file path=ppt/notesSlides/_rels/notesSlide4.xml.rels>&#65279;<?xml version="1.0" encoding="utf-8"?><Relationships xmlns="http://schemas.openxmlformats.org/package/2006/relationships"><Relationship Type="http://schemas.openxmlformats.org/officeDocument/2006/relationships/slide" Target="/ppt/slides/slide4.xml" Id="R65acb6d52f3c49cf" /><Relationship Type="http://schemas.openxmlformats.org/officeDocument/2006/relationships/notesMaster" Target="/ppt/notesMasters/notesMaster1.xml" Id="Rc698b852663b4884" /></Relationships>
</file>

<file path=ppt/notesSlides/_rels/notesSlide5.xml.rels>&#65279;<?xml version="1.0" encoding="utf-8"?><Relationships xmlns="http://schemas.openxmlformats.org/package/2006/relationships"><Relationship Type="http://schemas.openxmlformats.org/officeDocument/2006/relationships/slide" Target="/ppt/slides/slide5.xml" Id="Rd4b7a3e9f3394df3" /><Relationship Type="http://schemas.openxmlformats.org/officeDocument/2006/relationships/notesMaster" Target="/ppt/notesMasters/notesMaster1.xml" Id="Red25b8cc5473477e" /></Relationships>
</file>

<file path=ppt/notesSlides/_rels/notesSlide6.xml.rels>&#65279;<?xml version="1.0" encoding="utf-8"?><Relationships xmlns="http://schemas.openxmlformats.org/package/2006/relationships"><Relationship Type="http://schemas.openxmlformats.org/officeDocument/2006/relationships/slide" Target="/ppt/slides/slide6.xml" Id="R3ea6962743f74d85" /><Relationship Type="http://schemas.openxmlformats.org/officeDocument/2006/relationships/notesMaster" Target="/ppt/notesMasters/notesMaster1.xml" Id="R68a6f13794c44d04" /></Relationships>
</file>

<file path=ppt/notesSlides/_rels/notesSlide7.xml.rels>&#65279;<?xml version="1.0" encoding="utf-8"?><Relationships xmlns="http://schemas.openxmlformats.org/package/2006/relationships"><Relationship Type="http://schemas.openxmlformats.org/officeDocument/2006/relationships/slide" Target="/ppt/slides/slide7.xml" Id="R397990342b894a11" /><Relationship Type="http://schemas.openxmlformats.org/officeDocument/2006/relationships/notesMaster" Target="/ppt/notesMasters/notesMaster1.xml" Id="Ra079e01db61544b3" /></Relationships>
</file>

<file path=ppt/notesSlides/_rels/notesSlide8.xml.rels>&#65279;<?xml version="1.0" encoding="utf-8"?><Relationships xmlns="http://schemas.openxmlformats.org/package/2006/relationships"><Relationship Type="http://schemas.openxmlformats.org/officeDocument/2006/relationships/slide" Target="/ppt/slides/slide8.xml" Id="Rba50f09c868041a2" /><Relationship Type="http://schemas.openxmlformats.org/officeDocument/2006/relationships/notesMaster" Target="/ppt/notesMasters/notesMaster1.xml" Id="R39525728c9c04244" /></Relationships>
</file>

<file path=ppt/notesSlides/_rels/notesSlide9.xml.rels>&#65279;<?xml version="1.0" encoding="utf-8"?><Relationships xmlns="http://schemas.openxmlformats.org/package/2006/relationships"><Relationship Type="http://schemas.openxmlformats.org/officeDocument/2006/relationships/slide" Target="/ppt/slides/slide9.xml" Id="Rd181d53eb53c44cf" /><Relationship Type="http://schemas.openxmlformats.org/officeDocument/2006/relationships/notesMaster" Target="/ppt/notesMasters/notesMaster1.xml" Id="R49ed4ab24f6743b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e3f214c423f4ebd" /><Relationship Type="http://schemas.openxmlformats.org/officeDocument/2006/relationships/notesMaster" Target="/ppt/notesMasters/notesMaster1.xml" Id="Ra6e0796730e34b4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PlanRace turns query optimization into an open competition. The evidence in this deck comes from a verified local Subtensor run. Testnet remains the next gate and is not claimed here. Sources: README.md, STATUS.md, results/localnet-v2/summary.json.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Database-native optimizers remain the default alternative. PlanRace tests a complementary market for recurring regressions and query-cost reduction. Demand has not yet been validated with paying customers. Sources: MARKET_EVIDENCE.md and COMPETITOR_MATRIX.md.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commodity is intentionally narrow: a validator-compiled index plan for SQLite. This makes the artifact safe to replay and the correctness oracle objective. Sources: PROTOCOL_V2.md, BENCHMARK_POLICY.md, and planrace/models_v2.py.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task commitment prevents validators from changing fixtures after seeing submissions. The reveal makes the challenge independently auditable after the deadline. Authentication binds each request and response to its intended hotkeys. Sources: PROTOCOL_V2.md and SECURITY.md.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validator measures both baseline and candidate inside the same disposable worker. Only exact and policy-compliant artifacts reach performance scoring. An all-fail round creates no new update; prior on-chain weights may remain until network rules change them. Sources: SCORING.md, BENCHMARK_POLICY.md, and TESTNET.md.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zero metrics are exact for this seeded experiment, not universal security proofs. The availability-replica gain remains disclosed because economically separate identities can improve uptime even when they cannot manufacture strategy diversity. Source: results/mechanism-v2/summary.json, configuration SHA-256 5bcf51d30323072739665ba2c823ef348b0f0a81b0639e13b2fd6bae226901d3.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localnet run used one operator and three validator identities. It proves the full protocol and chain-write path locally, not independent operation or testnet readiness. Public evidence: https://planrace-subnet.vercel.app/evidence/localnet-v2.json. Source: results/localnet-v2/summary.json.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Bittensor matters because miner discovery remains open-ended while evaluation is narrow and validator-owned. This architecture does not require miners to reveal their optimizer or training data. Sources: ARCHITECTURE.md, PROTOCOL_V2.md, and MECHANISM.md.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roadmap separates technical proof from market validation. Current evidence uses generated SQLite workloads under one operator. The next gate requires a dedicated testnet wallet, public Axons, real signed interaction, a finalized weight transaction, and matching metagraph readback. Sources: MARKET_EVIDENCE.md, TESTNET.md, and 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PlanRace has a working protocol, signed localnet evidence, and a public verifier. The final submission will add the real testnet run and video rather than presenting localnet as testnet. Website: https://planrace-subnet.vercel.app/. Repository: https://github.com/dorakingx/planrace-subnet.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6b0ff29bf9a44b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f3eeef0e5be42f8" /><Relationship Type="http://schemas.openxmlformats.org/officeDocument/2006/relationships/slideLayout" Target="/ppt/slideLayouts/slideLayout1.xml" Id="Rf29c2b1a81654fe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29c2b1a81654fe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bf9b69794da4db2" /><Relationship Type="http://schemas.openxmlformats.org/officeDocument/2006/relationships/image" Target="/ppt/media/image.png" Id="R18e1618a9c7344a2" /><Relationship Type="http://schemas.openxmlformats.org/officeDocument/2006/relationships/notesSlide" Target="/ppt/notesSlides/notesSlide1.xml" Id="R9b8f3a48fa32432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8d264b1d42245b1" /><Relationship Type="http://schemas.openxmlformats.org/officeDocument/2006/relationships/notesSlide" Target="/ppt/notesSlides/notesSlide2.xml" Id="R9bbed92ac773420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1df5c895d474362" /><Relationship Type="http://schemas.openxmlformats.org/officeDocument/2006/relationships/notesSlide" Target="/ppt/notesSlides/notesSlide3.xml" Id="R93169dd92af8491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6da3a5169df4b09" /><Relationship Type="http://schemas.openxmlformats.org/officeDocument/2006/relationships/notesSlide" Target="/ppt/notesSlides/notesSlide4.xml" Id="R9af9af86da78417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a54b4a8154a41a0" /><Relationship Type="http://schemas.openxmlformats.org/officeDocument/2006/relationships/notesSlide" Target="/ppt/notesSlides/notesSlide5.xml" Id="Rb6e3eeb5d994458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e1fc9c1d9694bce" /><Relationship Type="http://schemas.openxmlformats.org/officeDocument/2006/relationships/chart" Target="/ppt/slides/charts/chart1.xml" Id="R336028780cd94a14" /><Relationship Type="http://schemas.openxmlformats.org/officeDocument/2006/relationships/notesSlide" Target="/ppt/notesSlides/notesSlide6.xml" Id="R929081e72166462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17b19c699484046" /><Relationship Type="http://schemas.openxmlformats.org/officeDocument/2006/relationships/image" Target="/ppt/media/image2.png" Id="Rd46bb74a67d4408b" /><Relationship Type="http://schemas.openxmlformats.org/officeDocument/2006/relationships/notesSlide" Target="/ppt/notesSlides/notesSlide7.xml" Id="R7b483bda6b0d4a4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ed9d4ed0d7e433d" /><Relationship Type="http://schemas.openxmlformats.org/officeDocument/2006/relationships/notesSlide" Target="/ppt/notesSlides/notesSlide8.xml" Id="Rd6c3765498b647e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8e2ef44a7d04348" /><Relationship Type="http://schemas.openxmlformats.org/officeDocument/2006/relationships/notesSlide" Target="/ppt/notesSlides/notesSlide9.xml" Id="Re12bb816e13844a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257f1baf28c495b" /><Relationship Type="http://schemas.openxmlformats.org/officeDocument/2006/relationships/image" Target="/ppt/media/image3.png" Id="R7232a4b93ead4d0d" /><Relationship Type="http://schemas.openxmlformats.org/officeDocument/2006/relationships/notesSlide" Target="/ppt/notesSlides/notesSlide10.xml" Id="Re13f4132a2e64e9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Percentage points</c:v>
          </c:tx>
          <c:spPr>
            <a:solidFill xmlns:a="http://schemas.openxmlformats.org/drawingml/2006/main">
              <a:srgbClr val="31D66B"/>
            </a:solidFill>
          </c:spPr>
          <c:cat>
            <c:strRef>
              <c:f>'Chart Data'!$A$2:$A$5</c:f>
              <c:strCache>
                <c:ptCount val="4"/>
                <c:pt idx="0">
                  <c:v>False acceptance</c:v>
                </c:pt>
                <c:pt idx="1">
                  <c:v>Gaming weight</c:v>
                </c:pt>
                <c:pt idx="2">
                  <c:v>Exact-copy gain</c:v>
                </c:pt>
                <c:pt idx="3">
                  <c:v>Availability replica gain</c:v>
                </c:pt>
              </c:strCache>
            </c:strRef>
          </c:cat>
          <c:val>
            <c:numRef>
              <c:f>'Chart Data'!$B$2:$B$5</c:f>
              <c:numCache>
                <c:formatCode>General</c:formatCode>
                <c:ptCount val="4"/>
                <c:pt idx="0">
                  <c:v>0</c:v>
                </c:pt>
                <c:pt idx="1">
                  <c:v>0</c:v>
                </c:pt>
                <c:pt idx="2">
                  <c:v>0</c:v>
                </c:pt>
                <c:pt idx="3">
                  <c:v>13.57</c:v>
                </c:pt>
              </c:numCache>
            </c:numRef>
          </c:val>
        </c:ser>
        <c:dLbls>
          <c:txPr>
            <a:bodyPr xmlns:a="http://schemas.openxmlformats.org/drawingml/2006/main" anchorCtr="1"/>
            <a:lstStyle xmlns:a="http://schemas.openxmlformats.org/drawingml/2006/main"/>
            <a:p xmlns:a="http://schemas.openxmlformats.org/drawingml/2006/main">
              <a:pPr>
                <a:defRPr sz="975" b="1">
                  <a:solidFill>
                    <a:srgbClr val="F0FFF4"/>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58"/>
        <c:axId val="48650112"/>
        <c:axId val="48672768"/>
      </c:barChart>
      <c:catAx>
        <c:axId val="48650112"/>
        <c:scaling>
          <c:orientation val="minMax"/>
        </c:scaling>
        <c:delete val="0"/>
        <c:axPos val="l"/>
        <c:majorGridlines>
          <c:spPr>
            <a:ln xmlns:a="http://schemas.openxmlformats.org/drawingml/2006/main" w="9525">
              <a:solidFill>
                <a:srgbClr val="1F5138"/>
              </a:solidFill>
              <a:prstDash val="solid"/>
            </a:ln>
          </c:spPr>
        </c:majorGridlines>
        <c:numFmt formatCode="0.##"/>
        <c:majorTickMark val="none"/>
        <c:minorTickMark val="none"/>
        <c:spPr>
          <a:ln xmlns:a="http://schemas.openxmlformats.org/drawingml/2006/main" w="9525">
            <a:solidFill>
              <a:srgbClr val="1F5138"/>
            </a:solidFill>
          </a:ln>
        </c:spPr>
        <c:txPr>
          <a:bodyPr xmlns:a="http://schemas.openxmlformats.org/drawingml/2006/main" anchorCtr="1"/>
          <a:lstStyle xmlns:a="http://schemas.openxmlformats.org/drawingml/2006/main"/>
          <a:p xmlns:a="http://schemas.openxmlformats.org/drawingml/2006/main">
            <a:pPr>
              <a:defRPr sz="900">
                <a:solidFill>
                  <a:srgbClr val="9BB7A7"/>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1F5138"/>
            </a:solidFill>
          </a:ln>
        </c:spPr>
        <c:txPr>
          <a:bodyPr xmlns:a="http://schemas.openxmlformats.org/drawingml/2006/main" anchorCtr="1"/>
          <a:lstStyle xmlns:a="http://schemas.openxmlformats.org/drawingml/2006/main"/>
          <a:p xmlns:a="http://schemas.openxmlformats.org/drawingml/2006/main">
            <a:pPr>
              <a:defRPr sz="975">
                <a:solidFill>
                  <a:srgbClr val="F0FFF4"/>
                </a:solidFill>
                <a:latin typeface="Helvetica Neue"/>
                <a:ea typeface="Helvetica Neue"/>
                <a:cs typeface="Helvetica Neue"/>
              </a:defRPr>
            </a:pPr>
          </a:p>
        </c:txPr>
        <c:crossAx val="48650112"/>
        <c:crossBetween val="between"/>
      </c:valAx>
      <c:spPr>
        <a:solidFill xmlns:a="http://schemas.openxmlformats.org/drawingml/2006/main">
          <a:srgbClr val="03110C"/>
        </a:solidFill>
        <a:ln xmlns:a="http://schemas.openxmlformats.org/drawingml/2006/main" w="0">
          <a:solidFill>
            <a:srgbClr val="03110C"/>
          </a:solidFill>
        </a:ln>
      </c:spPr>
    </c:plotArea>
    <c:plotVisOnly val="1"/>
  </c:chart>
  <c:spPr>
    <a:solidFill xmlns:a="http://schemas.openxmlformats.org/drawingml/2006/main">
      <a:srgbClr val="03110C"/>
    </a:solidFill>
    <a:ln xmlns:a="http://schemas.openxmlformats.org/drawingml/2006/main" w="0">
      <a:solidFill>
        <a:srgbClr val="03110C"/>
      </a:solid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3110C"/>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18e1618a9c7344a2"/>
          <a:stretch xmlns:a="http://schemas.openxmlformats.org/drawingml/2006/main"/>
        </p:blipFill>
        <p:spPr>
          <a:xfrm xmlns:a="http://schemas.openxmlformats.org/drawingml/2006/main">
            <a:off x="685800" y="685800"/>
            <a:ext cx="876300" cy="876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CB211A1-FB0E-484F-8527-290D9DC0358B}"/>
              </a:ext>
            </a:extLst>
          </p:cNvPr>
          <p:cNvSpPr>
            <a:spLocks xmlns:a="http://schemas.openxmlformats.org/drawingml/2006/main" noGrp="1"/>
          </p:cNvSpPr>
          <p:nvPr/>
        </p:nvSpPr>
        <p:spPr>
          <a:xfrm xmlns:a="http://schemas.openxmlformats.org/drawingml/2006/main">
            <a:off x="1752600" y="72390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6BFF8B"/>
                </a:solidFill>
                <a:latin typeface="Helvetica Neue"/>
                <a:ea typeface="Helvetica Neue"/>
                <a:cs typeface="Helvetica Neue"/>
              </a:defRPr>
            </a:pPr>
            <a:r>
              <a:rPr sz="1350" b="1">
                <a:solidFill>
                  <a:srgbClr val="6BFF8B"/>
                </a:solidFill>
                <a:latin typeface="Helvetica Neue"/>
                <a:ea typeface="Helvetica Neue"/>
                <a:cs typeface="Helvetica Neue"/>
              </a:rPr>
              <a:t>PLANRACE</a:t>
            </a:r>
          </a:p>
        </p:txBody>
      </p:sp>
      <p:sp>
        <p:nvSpPr>
          <p:cNvPr id="3" name="">
            <a:extLst xmlns:a="http://schemas.openxmlformats.org/drawingml/2006/main">
              <a:ext uri="{FF2B5EF4-FFF2-40B4-BE49-F238E27FC236}">
                <a16:creationId xmlns:a16="http://schemas.microsoft.com/office/drawing/2014/main" id="{846EF0D6-8715-4B3A-A178-2945F17A45EC}"/>
              </a:ext>
            </a:extLst>
          </p:cNvPr>
          <p:cNvSpPr>
            <a:spLocks xmlns:a="http://schemas.openxmlformats.org/drawingml/2006/main" noGrp="1"/>
          </p:cNvSpPr>
          <p:nvPr/>
        </p:nvSpPr>
        <p:spPr>
          <a:xfrm xmlns:a="http://schemas.openxmlformats.org/drawingml/2006/main">
            <a:off x="685800" y="1952625"/>
            <a:ext cx="70485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675" b="1">
                <a:solidFill>
                  <a:srgbClr val="F0FFF4"/>
                </a:solidFill>
                <a:latin typeface="Helvetica Neue"/>
                <a:ea typeface="Helvetica Neue"/>
                <a:cs typeface="Helvetica Neue"/>
              </a:defRPr>
            </a:pPr>
            <a:r>
              <a:rPr sz="3675" b="1">
                <a:solidFill>
                  <a:srgbClr val="F0FFF4"/>
                </a:solidFill>
                <a:latin typeface="Helvetica Neue"/>
                <a:ea typeface="Helvetica Neue"/>
                <a:cs typeface="Helvetica Neue"/>
              </a:rPr>
              <a:t>Verified query optimization</a:t>
            </a:r>
          </a:p>
          <a:p xmlns:a="http://schemas.openxmlformats.org/drawingml/2006/main">
            <a:pPr algn="l">
              <a:defRPr sz="3675" b="1">
                <a:solidFill>
                  <a:srgbClr val="F0FFF4"/>
                </a:solidFill>
                <a:latin typeface="Helvetica Neue"/>
                <a:ea typeface="Helvetica Neue"/>
                <a:cs typeface="Helvetica Neue"/>
              </a:defRPr>
            </a:pPr>
            <a:r>
              <a:rPr sz="3675" b="1">
                <a:solidFill>
                  <a:srgbClr val="F0FFF4"/>
                </a:solidFill>
                <a:latin typeface="Helvetica Neue"/>
                <a:ea typeface="Helvetica Neue"/>
                <a:cs typeface="Helvetica Neue"/>
              </a:rPr>
              <a:t>as an open market</a:t>
            </a:r>
          </a:p>
        </p:txBody>
      </p:sp>
      <p:sp>
        <p:nvSpPr>
          <p:cNvPr id="4" name="">
            <a:extLst xmlns:a="http://schemas.openxmlformats.org/drawingml/2006/main">
              <a:ext uri="{FF2B5EF4-FFF2-40B4-BE49-F238E27FC236}">
                <a16:creationId xmlns:a16="http://schemas.microsoft.com/office/drawing/2014/main" id="{40672BDC-F95B-483D-8D2A-2EDC1FDEB9AC}"/>
              </a:ext>
            </a:extLst>
          </p:cNvPr>
          <p:cNvSpPr>
            <a:spLocks xmlns:a="http://schemas.openxmlformats.org/drawingml/2006/main" noGrp="1"/>
          </p:cNvSpPr>
          <p:nvPr/>
        </p:nvSpPr>
        <p:spPr>
          <a:xfrm xmlns:a="http://schemas.openxmlformats.org/drawingml/2006/main">
            <a:off x="723900" y="3638550"/>
            <a:ext cx="657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9BB7A7"/>
                </a:solidFill>
                <a:latin typeface="Helvetica Neue"/>
                <a:ea typeface="Helvetica Neue"/>
                <a:cs typeface="Helvetica Neue"/>
              </a:defRPr>
            </a:pPr>
            <a:r>
              <a:rPr sz="1650" b="0">
                <a:solidFill>
                  <a:srgbClr val="9BB7A7"/>
                </a:solidFill>
                <a:latin typeface="Helvetica Neue"/>
                <a:ea typeface="Helvetica Neue"/>
                <a:cs typeface="Helvetica Neue"/>
              </a:rPr>
              <a:t>Miners discover executable index plans. Validators replay them on hidden workloads and reward only correct results.</a:t>
            </a:r>
          </a:p>
        </p:txBody>
      </p:sp>
      <p:sp>
        <p:nvSpPr>
          <p:cNvPr id="5" name="">
            <a:extLst xmlns:a="http://schemas.openxmlformats.org/drawingml/2006/main">
              <a:ext uri="{FF2B5EF4-FFF2-40B4-BE49-F238E27FC236}">
                <a16:creationId xmlns:a16="http://schemas.microsoft.com/office/drawing/2014/main" id="{ADBC9926-DA84-4E4E-8838-5C626B3750D2}"/>
              </a:ext>
            </a:extLst>
          </p:cNvPr>
          <p:cNvSpPr>
            <a:spLocks xmlns:a="http://schemas.openxmlformats.org/drawingml/2006/main" noGrp="1"/>
          </p:cNvSpPr>
          <p:nvPr/>
        </p:nvSpPr>
        <p:spPr>
          <a:xfrm xmlns:a="http://schemas.openxmlformats.org/drawingml/2006/main">
            <a:off x="8191500" y="800100"/>
            <a:ext cx="0" cy="4953000"/>
          </a:xfrm>
          <a:prstGeom xmlns:a="http://schemas.openxmlformats.org/drawingml/2006/main" prst="line">
            <a:avLst/>
          </a:prstGeom>
          <a:noFill xmlns:a="http://schemas.openxmlformats.org/drawingml/2006/main"/>
          <a:ln xmlns:a="http://schemas.openxmlformats.org/drawingml/2006/main" w="19050">
            <a:solidFill>
              <a:srgbClr val="1F5138"/>
            </a:solidFill>
          </a:ln>
        </p:spPr>
      </p:sp>
      <p:sp>
        <p:nvSpPr>
          <p:cNvPr id="6" name="">
            <a:extLst xmlns:a="http://schemas.openxmlformats.org/drawingml/2006/main">
              <a:ext uri="{FF2B5EF4-FFF2-40B4-BE49-F238E27FC236}">
                <a16:creationId xmlns:a16="http://schemas.microsoft.com/office/drawing/2014/main" id="{9FF868AF-CD32-4D28-A7AD-B326296DD4C2}"/>
              </a:ext>
            </a:extLst>
          </p:cNvPr>
          <p:cNvSpPr>
            <a:spLocks xmlns:a="http://schemas.openxmlformats.org/drawingml/2006/main" noGrp="1"/>
          </p:cNvSpPr>
          <p:nvPr/>
        </p:nvSpPr>
        <p:spPr>
          <a:xfrm xmlns:a="http://schemas.openxmlformats.org/drawingml/2006/main">
            <a:off x="8667750" y="163830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a:solidFill>
                  <a:srgbClr val="6BFF8B"/>
                </a:solidFill>
                <a:latin typeface="Helvetica Neue"/>
                <a:ea typeface="Helvetica Neue"/>
                <a:cs typeface="Helvetica Neue"/>
              </a:defRPr>
            </a:pPr>
            <a:r>
              <a:rPr sz="1050" b="1">
                <a:solidFill>
                  <a:srgbClr val="6BFF8B"/>
                </a:solidFill>
                <a:latin typeface="Helvetica Neue"/>
                <a:ea typeface="Helvetica Neue"/>
                <a:cs typeface="Helvetica Neue"/>
              </a:rPr>
              <a:t>LOCALNET</a:t>
            </a:r>
          </a:p>
        </p:txBody>
      </p:sp>
      <p:sp>
        <p:nvSpPr>
          <p:cNvPr id="7" name="">
            <a:extLst xmlns:a="http://schemas.openxmlformats.org/drawingml/2006/main">
              <a:ext uri="{FF2B5EF4-FFF2-40B4-BE49-F238E27FC236}">
                <a16:creationId xmlns:a16="http://schemas.microsoft.com/office/drawing/2014/main" id="{A853E2E0-5353-4360-BCBD-C67C90509932}"/>
              </a:ext>
            </a:extLst>
          </p:cNvPr>
          <p:cNvSpPr>
            <a:spLocks xmlns:a="http://schemas.openxmlformats.org/drawingml/2006/main" noGrp="1"/>
          </p:cNvSpPr>
          <p:nvPr/>
        </p:nvSpPr>
        <p:spPr>
          <a:xfrm xmlns:a="http://schemas.openxmlformats.org/drawingml/2006/main">
            <a:off x="8572500" y="1971675"/>
            <a:ext cx="238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100" b="1">
                <a:solidFill>
                  <a:srgbClr val="F0FFF4"/>
                </a:solidFill>
                <a:latin typeface="Helvetica Neue"/>
                <a:ea typeface="Helvetica Neue"/>
                <a:cs typeface="Helvetica Neue"/>
              </a:defRPr>
            </a:pPr>
            <a:r>
              <a:rPr sz="5100" b="1">
                <a:solidFill>
                  <a:srgbClr val="F0FFF4"/>
                </a:solidFill>
                <a:latin typeface="Helvetica Neue"/>
                <a:ea typeface="Helvetica Neue"/>
                <a:cs typeface="Helvetica Neue"/>
              </a:rPr>
              <a:t>30</a:t>
            </a:r>
          </a:p>
        </p:txBody>
      </p:sp>
      <p:sp>
        <p:nvSpPr>
          <p:cNvPr id="8" name="">
            <a:extLst xmlns:a="http://schemas.openxmlformats.org/drawingml/2006/main">
              <a:ext uri="{FF2B5EF4-FFF2-40B4-BE49-F238E27FC236}">
                <a16:creationId xmlns:a16="http://schemas.microsoft.com/office/drawing/2014/main" id="{C9DCE2E0-C22B-415E-9DAE-5EABED99D33C}"/>
              </a:ext>
            </a:extLst>
          </p:cNvPr>
          <p:cNvSpPr>
            <a:spLocks xmlns:a="http://schemas.openxmlformats.org/drawingml/2006/main" noGrp="1"/>
          </p:cNvSpPr>
          <p:nvPr/>
        </p:nvSpPr>
        <p:spPr>
          <a:xfrm xmlns:a="http://schemas.openxmlformats.org/drawingml/2006/main">
            <a:off x="8648700" y="27241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9BB7A7"/>
                </a:solidFill>
                <a:latin typeface="Helvetica Neue"/>
                <a:ea typeface="Helvetica Neue"/>
                <a:cs typeface="Helvetica Neue"/>
              </a:defRPr>
            </a:pPr>
            <a:r>
              <a:rPr sz="1350" b="0">
                <a:solidFill>
                  <a:srgbClr val="9BB7A7"/>
                </a:solidFill>
                <a:latin typeface="Helvetica Neue"/>
                <a:ea typeface="Helvetica Neue"/>
                <a:cs typeface="Helvetica Neue"/>
              </a:rPr>
              <a:t>verified epochs</a:t>
            </a:r>
          </a:p>
        </p:txBody>
      </p:sp>
      <p:sp>
        <p:nvSpPr>
          <p:cNvPr id="9" name="">
            <a:extLst xmlns:a="http://schemas.openxmlformats.org/drawingml/2006/main">
              <a:ext uri="{FF2B5EF4-FFF2-40B4-BE49-F238E27FC236}">
                <a16:creationId xmlns:a16="http://schemas.microsoft.com/office/drawing/2014/main" id="{05227671-44EF-4E72-95F2-9A524EE9A2E6}"/>
              </a:ext>
            </a:extLst>
          </p:cNvPr>
          <p:cNvSpPr>
            <a:spLocks xmlns:a="http://schemas.openxmlformats.org/drawingml/2006/main" noGrp="1"/>
          </p:cNvSpPr>
          <p:nvPr/>
        </p:nvSpPr>
        <p:spPr>
          <a:xfrm xmlns:a="http://schemas.openxmlformats.org/drawingml/2006/main">
            <a:off x="8667750" y="36385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a:solidFill>
                  <a:srgbClr val="F4D35E"/>
                </a:solidFill>
                <a:latin typeface="Helvetica Neue"/>
                <a:ea typeface="Helvetica Neue"/>
                <a:cs typeface="Helvetica Neue"/>
              </a:defRPr>
            </a:pPr>
            <a:r>
              <a:rPr sz="1050" b="1">
                <a:solidFill>
                  <a:srgbClr val="F4D35E"/>
                </a:solidFill>
                <a:latin typeface="Helvetica Neue"/>
                <a:ea typeface="Helvetica Neue"/>
                <a:cs typeface="Helvetica Neue"/>
              </a:rPr>
              <a:t>TESTNET</a:t>
            </a:r>
          </a:p>
        </p:txBody>
      </p:sp>
      <p:sp>
        <p:nvSpPr>
          <p:cNvPr id="10" name="">
            <a:extLst xmlns:a="http://schemas.openxmlformats.org/drawingml/2006/main">
              <a:ext uri="{FF2B5EF4-FFF2-40B4-BE49-F238E27FC236}">
                <a16:creationId xmlns:a16="http://schemas.microsoft.com/office/drawing/2014/main" id="{45DCC54C-7F98-4C2C-AC88-D4AAA2396452}"/>
              </a:ext>
            </a:extLst>
          </p:cNvPr>
          <p:cNvSpPr>
            <a:spLocks xmlns:a="http://schemas.openxmlformats.org/drawingml/2006/main" noGrp="1"/>
          </p:cNvSpPr>
          <p:nvPr/>
        </p:nvSpPr>
        <p:spPr>
          <a:xfrm xmlns:a="http://schemas.openxmlformats.org/drawingml/2006/main">
            <a:off x="8572500" y="3971925"/>
            <a:ext cx="2381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125" b="1">
                <a:solidFill>
                  <a:srgbClr val="F0FFF4"/>
                </a:solidFill>
                <a:latin typeface="Helvetica Neue"/>
                <a:ea typeface="Helvetica Neue"/>
                <a:cs typeface="Helvetica Neue"/>
              </a:defRPr>
            </a:pPr>
            <a:r>
              <a:rPr sz="4125" b="1">
                <a:solidFill>
                  <a:srgbClr val="F0FFF4"/>
                </a:solidFill>
                <a:latin typeface="Helvetica Neue"/>
                <a:ea typeface="Helvetica Neue"/>
                <a:cs typeface="Helvetica Neue"/>
              </a:rPr>
              <a:t>NEXT</a:t>
            </a:r>
          </a:p>
        </p:txBody>
      </p:sp>
      <p:sp>
        <p:nvSpPr>
          <p:cNvPr id="11" name="">
            <a:extLst xmlns:a="http://schemas.openxmlformats.org/drawingml/2006/main">
              <a:ext uri="{FF2B5EF4-FFF2-40B4-BE49-F238E27FC236}">
                <a16:creationId xmlns:a16="http://schemas.microsoft.com/office/drawing/2014/main" id="{B1D91353-98D1-40CB-90DF-5908CBD21CBB}"/>
              </a:ext>
            </a:extLst>
          </p:cNvPr>
          <p:cNvSpPr>
            <a:spLocks xmlns:a="http://schemas.openxmlformats.org/drawingml/2006/main" noGrp="1"/>
          </p:cNvSpPr>
          <p:nvPr/>
        </p:nvSpPr>
        <p:spPr>
          <a:xfrm xmlns:a="http://schemas.openxmlformats.org/drawingml/2006/main">
            <a:off x="723900" y="60960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9BB7A7"/>
                </a:solidFill>
                <a:latin typeface="Helvetica Neue"/>
                <a:ea typeface="Helvetica Neue"/>
                <a:cs typeface="Helvetica Neue"/>
              </a:defRPr>
            </a:pPr>
            <a:r>
              <a:rPr sz="975" b="0">
                <a:solidFill>
                  <a:srgbClr val="9BB7A7"/>
                </a:solidFill>
                <a:latin typeface="Helvetica Neue"/>
                <a:ea typeface="Helvetica Neue"/>
                <a:cs typeface="Helvetica Neue"/>
              </a:rPr>
              <a:t>Checkpoint #1 · Localnet evidence</a:t>
            </a:r>
          </a:p>
        </p:txBody>
      </p:sp>
    </p:spTree>
    <p:extLst>
      <p:ext uri="{BB962C8B-B14F-4D97-AF65-F5344CB8AC3E}">
        <p14:creationId xmlns:p14="http://schemas.microsoft.com/office/powerpoint/2010/main" val="1802725578"/>
      </p:ext>
    </p:extLst>
  </p:cSld>
</p:sld>
</file>

<file path=ppt/slides/slide2.xml><?xml version="1.0" encoding="utf-8"?>
<p:sld xmlns:p="http://schemas.openxmlformats.org/presentationml/2006/main">
  <p:cSld>
    <p:bg>
      <p:bgPr>
        <a:solidFill xmlns:a="http://schemas.openxmlformats.org/drawingml/2006/main">
          <a:srgbClr val="03110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C376422-84B9-478A-B35F-B77C718F4160}"/>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1">
                <a:solidFill>
                  <a:srgbClr val="6BFF8B"/>
                </a:solidFill>
                <a:latin typeface="Helvetica Neue"/>
                <a:ea typeface="Helvetica Neue"/>
                <a:cs typeface="Helvetica Neue"/>
              </a:defRPr>
            </a:pPr>
            <a:r>
              <a:rPr sz="900" b="1">
                <a:solidFill>
                  <a:srgbClr val="6BFF8B"/>
                </a:solidFill>
                <a:latin typeface="Helvetica Neue"/>
                <a:ea typeface="Helvetica Neue"/>
                <a:cs typeface="Helvetica Neue"/>
              </a:rPr>
              <a:t>PROBLEM</a:t>
            </a:r>
          </a:p>
        </p:txBody>
      </p:sp>
      <p:sp>
        <p:nvSpPr>
          <p:cNvPr id="2" name="">
            <a:extLst xmlns:a="http://schemas.openxmlformats.org/drawingml/2006/main">
              <a:ext uri="{FF2B5EF4-FFF2-40B4-BE49-F238E27FC236}">
                <a16:creationId xmlns:a16="http://schemas.microsoft.com/office/drawing/2014/main" id="{58222EF7-78D1-4AA1-B3AC-E7A19B135D28}"/>
              </a:ext>
            </a:extLst>
          </p:cNvPr>
          <p:cNvSpPr>
            <a:spLocks xmlns:a="http://schemas.openxmlformats.org/drawingml/2006/main" noGrp="1"/>
          </p:cNvSpPr>
          <p:nvPr/>
        </p:nvSpPr>
        <p:spPr>
          <a:xfrm xmlns:a="http://schemas.openxmlformats.org/drawingml/2006/main">
            <a:off x="11239500" y="266700"/>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00" b="0">
                <a:solidFill>
                  <a:srgbClr val="9BB7A7"/>
                </a:solidFill>
                <a:latin typeface="Helvetica Neue"/>
                <a:ea typeface="Helvetica Neue"/>
                <a:cs typeface="Helvetica Neue"/>
              </a:defRPr>
            </a:pPr>
            <a:r>
              <a:rPr sz="900" b="0">
                <a:solidFill>
                  <a:srgbClr val="9BB7A7"/>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C8FCE38D-397E-4D55-AB93-2F0D30C4A3CE}"/>
              </a:ext>
            </a:extLst>
          </p:cNvPr>
          <p:cNvSpPr>
            <a:spLocks xmlns:a="http://schemas.openxmlformats.org/drawingml/2006/main" noGrp="1"/>
          </p:cNvSpPr>
          <p:nvPr/>
        </p:nvSpPr>
        <p:spPr>
          <a:xfrm xmlns:a="http://schemas.openxmlformats.org/drawingml/2006/main">
            <a:off x="609600" y="6534150"/>
            <a:ext cx="10972800" cy="0"/>
          </a:xfrm>
          <a:prstGeom xmlns:a="http://schemas.openxmlformats.org/drawingml/2006/main" prst="line">
            <a:avLst/>
          </a:prstGeom>
          <a:noFill xmlns:a="http://schemas.openxmlformats.org/drawingml/2006/main"/>
          <a:ln xmlns:a="http://schemas.openxmlformats.org/drawingml/2006/main" w="9525">
            <a:solidFill>
              <a:srgbClr val="1F5138"/>
            </a:solidFill>
          </a:ln>
        </p:spPr>
      </p:sp>
      <p:sp>
        <p:nvSpPr>
          <p:cNvPr id="4" name="">
            <a:extLst xmlns:a="http://schemas.openxmlformats.org/drawingml/2006/main">
              <a:ext uri="{FF2B5EF4-FFF2-40B4-BE49-F238E27FC236}">
                <a16:creationId xmlns:a16="http://schemas.microsoft.com/office/drawing/2014/main" id="{A51FE2B2-92D2-4BF4-A285-51A86A475CD4}"/>
              </a:ext>
            </a:extLst>
          </p:cNvPr>
          <p:cNvSpPr>
            <a:spLocks xmlns:a="http://schemas.openxmlformats.org/drawingml/2006/main" noGrp="1"/>
          </p:cNvSpPr>
          <p:nvPr/>
        </p:nvSpPr>
        <p:spPr>
          <a:xfrm xmlns:a="http://schemas.openxmlformats.org/drawingml/2006/main">
            <a:off x="609600" y="657225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675" b="0">
                <a:solidFill>
                  <a:srgbClr val="9BB7A7"/>
                </a:solidFill>
                <a:latin typeface="Helvetica Neue"/>
                <a:ea typeface="Helvetica Neue"/>
                <a:cs typeface="Helvetica Neue"/>
              </a:defRPr>
            </a:pPr>
            <a:r>
              <a:rPr sz="675" b="0">
                <a:solidFill>
                  <a:srgbClr val="9BB7A7"/>
                </a:solidFill>
                <a:latin typeface="Helvetica Neue"/>
                <a:ea typeface="Helvetica Neue"/>
                <a:cs typeface="Helvetica Neue"/>
              </a:rPr>
              <a:t>PlanRace · Bittensor Global Subnet Hackathon · Checkpoint draft</a:t>
            </a:r>
          </a:p>
        </p:txBody>
      </p:sp>
      <p:sp>
        <p:nvSpPr>
          <p:cNvPr id="5" name="">
            <a:extLst xmlns:a="http://schemas.openxmlformats.org/drawingml/2006/main">
              <a:ext uri="{FF2B5EF4-FFF2-40B4-BE49-F238E27FC236}">
                <a16:creationId xmlns:a16="http://schemas.microsoft.com/office/drawing/2014/main" id="{3AA0FDD3-8226-437F-ABB9-4FA82FD310C7}"/>
              </a:ext>
            </a:extLst>
          </p:cNvPr>
          <p:cNvSpPr>
            <a:spLocks xmlns:a="http://schemas.openxmlformats.org/drawingml/2006/main" noGrp="1"/>
          </p:cNvSpPr>
          <p:nvPr/>
        </p:nvSpPr>
        <p:spPr>
          <a:xfrm xmlns:a="http://schemas.openxmlformats.org/drawingml/2006/main">
            <a:off x="609600" y="60960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F0FFF4"/>
                </a:solidFill>
                <a:latin typeface="Helvetica Neue"/>
                <a:ea typeface="Helvetica Neue"/>
                <a:cs typeface="Helvetica Neue"/>
              </a:defRPr>
            </a:pPr>
            <a:r>
              <a:rPr sz="2700" b="1">
                <a:solidFill>
                  <a:srgbClr val="F0FFF4"/>
                </a:solidFill>
                <a:latin typeface="Helvetica Neue"/>
                <a:ea typeface="Helvetica Neue"/>
                <a:cs typeface="Helvetica Neue"/>
              </a:rPr>
              <a:t>Correct queries still become expensive</a:t>
            </a:r>
          </a:p>
        </p:txBody>
      </p:sp>
      <p:sp>
        <p:nvSpPr>
          <p:cNvPr id="6" name="">
            <a:extLst xmlns:a="http://schemas.openxmlformats.org/drawingml/2006/main">
              <a:ext uri="{FF2B5EF4-FFF2-40B4-BE49-F238E27FC236}">
                <a16:creationId xmlns:a16="http://schemas.microsoft.com/office/drawing/2014/main" id="{408F9A49-2AC4-4014-8807-AEFB69841307}"/>
              </a:ext>
            </a:extLst>
          </p:cNvPr>
          <p:cNvSpPr>
            <a:spLocks xmlns:a="http://schemas.openxmlformats.org/drawingml/2006/main" noGrp="1"/>
          </p:cNvSpPr>
          <p:nvPr/>
        </p:nvSpPr>
        <p:spPr>
          <a:xfrm xmlns:a="http://schemas.openxmlformats.org/drawingml/2006/main">
            <a:off x="609600" y="120015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9BB7A7"/>
                </a:solidFill>
                <a:latin typeface="Helvetica Neue"/>
                <a:ea typeface="Helvetica Neue"/>
                <a:cs typeface="Helvetica Neue"/>
              </a:defRPr>
            </a:pPr>
            <a:r>
              <a:rPr sz="1350" b="0">
                <a:solidFill>
                  <a:srgbClr val="9BB7A7"/>
                </a:solidFill>
                <a:latin typeface="Helvetica Neue"/>
                <a:ea typeface="Helvetica Neue"/>
                <a:cs typeface="Helvetica Neue"/>
              </a:rPr>
              <a:t>Schema changes, data distributions, traffic, and engine releases keep moving the target.</a:t>
            </a:r>
          </a:p>
        </p:txBody>
      </p:sp>
      <p:sp>
        <p:nvSpPr>
          <p:cNvPr id="7" name="">
            <a:extLst xmlns:a="http://schemas.openxmlformats.org/drawingml/2006/main">
              <a:ext uri="{FF2B5EF4-FFF2-40B4-BE49-F238E27FC236}">
                <a16:creationId xmlns:a16="http://schemas.microsoft.com/office/drawing/2014/main" id="{3B6A1F43-86F0-49FB-82E6-56E062D21831}"/>
              </a:ext>
            </a:extLst>
          </p:cNvPr>
          <p:cNvSpPr>
            <a:spLocks xmlns:a="http://schemas.openxmlformats.org/drawingml/2006/main" noGrp="1"/>
          </p:cNvSpPr>
          <p:nvPr/>
        </p:nvSpPr>
        <p:spPr>
          <a:xfrm xmlns:a="http://schemas.openxmlformats.org/drawingml/2006/main">
            <a:off x="647700" y="20955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9BB7A7"/>
                </a:solidFill>
                <a:latin typeface="Helvetica Neue"/>
                <a:ea typeface="Helvetica Neue"/>
                <a:cs typeface="Helvetica Neue"/>
              </a:defRPr>
            </a:pPr>
            <a:r>
              <a:rPr sz="1200" b="1">
                <a:solidFill>
                  <a:srgbClr val="9BB7A7"/>
                </a:solidFill>
                <a:latin typeface="Helvetica Neue"/>
                <a:ea typeface="Helvetica Neue"/>
                <a:cs typeface="Helvetica Neue"/>
              </a:rPr>
              <a:t>Today</a:t>
            </a:r>
          </a:p>
        </p:txBody>
      </p:sp>
      <p:sp>
        <p:nvSpPr>
          <p:cNvPr id="8" name="">
            <a:extLst xmlns:a="http://schemas.openxmlformats.org/drawingml/2006/main">
              <a:ext uri="{FF2B5EF4-FFF2-40B4-BE49-F238E27FC236}">
                <a16:creationId xmlns:a16="http://schemas.microsoft.com/office/drawing/2014/main" id="{205F54D4-B22B-4767-B577-6A37B4DFEE6A}"/>
              </a:ext>
            </a:extLst>
          </p:cNvPr>
          <p:cNvSpPr>
            <a:spLocks xmlns:a="http://schemas.openxmlformats.org/drawingml/2006/main" noGrp="1"/>
          </p:cNvSpPr>
          <p:nvPr/>
        </p:nvSpPr>
        <p:spPr>
          <a:xfrm xmlns:a="http://schemas.openxmlformats.org/drawingml/2006/main">
            <a:off x="647700" y="2476500"/>
            <a:ext cx="3905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F0FFF4"/>
                </a:solidFill>
                <a:latin typeface="Helvetica Neue"/>
                <a:ea typeface="Helvetica Neue"/>
                <a:cs typeface="Helvetica Neue"/>
              </a:defRPr>
            </a:pPr>
            <a:r>
              <a:rPr sz="2325" b="1">
                <a:solidFill>
                  <a:srgbClr val="F0FFF4"/>
                </a:solidFill>
                <a:latin typeface="Helvetica Neue"/>
                <a:ea typeface="Helvetica Neue"/>
                <a:cs typeface="Helvetica Neue"/>
              </a:rPr>
              <a:t>One engine advisor</a:t>
            </a:r>
          </a:p>
          <a:p xmlns:a="http://schemas.openxmlformats.org/drawingml/2006/main">
            <a:pPr algn="l">
              <a:defRPr sz="2325" b="1">
                <a:solidFill>
                  <a:srgbClr val="F0FFF4"/>
                </a:solidFill>
                <a:latin typeface="Helvetica Neue"/>
                <a:ea typeface="Helvetica Neue"/>
                <a:cs typeface="Helvetica Neue"/>
              </a:defRPr>
            </a:pPr>
            <a:r>
              <a:rPr sz="2325" b="1">
                <a:solidFill>
                  <a:srgbClr val="F0FFF4"/>
                </a:solidFill>
                <a:latin typeface="Helvetica Neue"/>
                <a:ea typeface="Helvetica Neue"/>
                <a:cs typeface="Helvetica Neue"/>
              </a:rPr>
              <a:t>One search strategy</a:t>
            </a:r>
          </a:p>
          <a:p xmlns:a="http://schemas.openxmlformats.org/drawingml/2006/main">
            <a:pPr algn="l">
              <a:defRPr sz="2325" b="1">
                <a:solidFill>
                  <a:srgbClr val="F0FFF4"/>
                </a:solidFill>
                <a:latin typeface="Helvetica Neue"/>
                <a:ea typeface="Helvetica Neue"/>
                <a:cs typeface="Helvetica Neue"/>
              </a:defRPr>
            </a:pPr>
            <a:r>
              <a:rPr sz="2325" b="1">
                <a:solidFill>
                  <a:srgbClr val="F0FFF4"/>
                </a:solidFill>
                <a:latin typeface="Helvetica Neue"/>
                <a:ea typeface="Helvetica Neue"/>
                <a:cs typeface="Helvetica Neue"/>
              </a:rPr>
              <a:t>Private evidence</a:t>
            </a:r>
          </a:p>
        </p:txBody>
      </p:sp>
      <p:sp>
        <p:nvSpPr>
          <p:cNvPr id="9" name="">
            <a:extLst xmlns:a="http://schemas.openxmlformats.org/drawingml/2006/main">
              <a:ext uri="{FF2B5EF4-FFF2-40B4-BE49-F238E27FC236}">
                <a16:creationId xmlns:a16="http://schemas.microsoft.com/office/drawing/2014/main" id="{655AA959-7800-4C08-8BD5-44594E11830C}"/>
              </a:ext>
            </a:extLst>
          </p:cNvPr>
          <p:cNvSpPr>
            <a:spLocks xmlns:a="http://schemas.openxmlformats.org/drawingml/2006/main" noGrp="1"/>
          </p:cNvSpPr>
          <p:nvPr/>
        </p:nvSpPr>
        <p:spPr>
          <a:xfrm xmlns:a="http://schemas.openxmlformats.org/drawingml/2006/main">
            <a:off x="4905375" y="2095500"/>
            <a:ext cx="0" cy="3143250"/>
          </a:xfrm>
          <a:prstGeom xmlns:a="http://schemas.openxmlformats.org/drawingml/2006/main" prst="line">
            <a:avLst/>
          </a:prstGeom>
          <a:noFill xmlns:a="http://schemas.openxmlformats.org/drawingml/2006/main"/>
          <a:ln xmlns:a="http://schemas.openxmlformats.org/drawingml/2006/main" w="19050">
            <a:solidFill>
              <a:srgbClr val="1F5138"/>
            </a:solidFill>
          </a:ln>
        </p:spPr>
      </p:sp>
      <p:sp>
        <p:nvSpPr>
          <p:cNvPr id="10" name="">
            <a:extLst xmlns:a="http://schemas.openxmlformats.org/drawingml/2006/main">
              <a:ext uri="{FF2B5EF4-FFF2-40B4-BE49-F238E27FC236}">
                <a16:creationId xmlns:a16="http://schemas.microsoft.com/office/drawing/2014/main" id="{2AC022BC-F3F3-4CFC-AA22-CA990BA4EFC2}"/>
              </a:ext>
            </a:extLst>
          </p:cNvPr>
          <p:cNvSpPr>
            <a:spLocks xmlns:a="http://schemas.openxmlformats.org/drawingml/2006/main" noGrp="1"/>
          </p:cNvSpPr>
          <p:nvPr/>
        </p:nvSpPr>
        <p:spPr>
          <a:xfrm xmlns:a="http://schemas.openxmlformats.org/drawingml/2006/main">
            <a:off x="5429250" y="209550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6BFF8B"/>
                </a:solidFill>
                <a:latin typeface="Helvetica Neue"/>
                <a:ea typeface="Helvetica Neue"/>
                <a:cs typeface="Helvetica Neue"/>
              </a:defRPr>
            </a:pPr>
            <a:r>
              <a:rPr sz="1200" b="1">
                <a:solidFill>
                  <a:srgbClr val="6BFF8B"/>
                </a:solidFill>
                <a:latin typeface="Helvetica Neue"/>
                <a:ea typeface="Helvetica Neue"/>
                <a:cs typeface="Helvetica Neue"/>
              </a:rPr>
              <a:t>Missing market</a:t>
            </a:r>
          </a:p>
        </p:txBody>
      </p:sp>
      <p:sp>
        <p:nvSpPr>
          <p:cNvPr id="11" name="">
            <a:extLst xmlns:a="http://schemas.openxmlformats.org/drawingml/2006/main">
              <a:ext uri="{FF2B5EF4-FFF2-40B4-BE49-F238E27FC236}">
                <a16:creationId xmlns:a16="http://schemas.microsoft.com/office/drawing/2014/main" id="{C05655F3-E892-4984-99BE-AC44597BEB2C}"/>
              </a:ext>
            </a:extLst>
          </p:cNvPr>
          <p:cNvSpPr>
            <a:spLocks xmlns:a="http://schemas.openxmlformats.org/drawingml/2006/main" noGrp="1"/>
          </p:cNvSpPr>
          <p:nvPr/>
        </p:nvSpPr>
        <p:spPr>
          <a:xfrm xmlns:a="http://schemas.openxmlformats.org/drawingml/2006/main">
            <a:off x="5429250" y="2476500"/>
            <a:ext cx="5524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F0FFF4"/>
                </a:solidFill>
                <a:latin typeface="Helvetica Neue"/>
                <a:ea typeface="Helvetica Neue"/>
                <a:cs typeface="Helvetica Neue"/>
              </a:defRPr>
            </a:pPr>
            <a:r>
              <a:rPr sz="2550" b="1">
                <a:solidFill>
                  <a:srgbClr val="F0FFF4"/>
                </a:solidFill>
                <a:latin typeface="Helvetica Neue"/>
                <a:ea typeface="Helvetica Neue"/>
                <a:cs typeface="Helvetica Neue"/>
              </a:rPr>
              <a:t>Many optimizers compete</a:t>
            </a:r>
          </a:p>
          <a:p xmlns:a="http://schemas.openxmlformats.org/drawingml/2006/main">
            <a:pPr algn="l">
              <a:defRPr sz="2550" b="1">
                <a:solidFill>
                  <a:srgbClr val="F0FFF4"/>
                </a:solidFill>
                <a:latin typeface="Helvetica Neue"/>
                <a:ea typeface="Helvetica Neue"/>
                <a:cs typeface="Helvetica Neue"/>
              </a:defRPr>
            </a:pPr>
            <a:r>
              <a:rPr sz="2550" b="1">
                <a:solidFill>
                  <a:srgbClr val="F0FFF4"/>
                </a:solidFill>
                <a:latin typeface="Helvetica Neue"/>
                <a:ea typeface="Helvetica Neue"/>
                <a:cs typeface="Helvetica Neue"/>
              </a:rPr>
              <a:t>on the same hidden workload</a:t>
            </a:r>
          </a:p>
        </p:txBody>
      </p:sp>
      <p:sp>
        <p:nvSpPr>
          <p:cNvPr id="12" name="">
            <a:extLst xmlns:a="http://schemas.openxmlformats.org/drawingml/2006/main">
              <a:ext uri="{FF2B5EF4-FFF2-40B4-BE49-F238E27FC236}">
                <a16:creationId xmlns:a16="http://schemas.microsoft.com/office/drawing/2014/main" id="{DBA9E1F3-0088-4740-9955-F216447D0A5A}"/>
              </a:ext>
            </a:extLst>
          </p:cNvPr>
          <p:cNvSpPr>
            <a:spLocks xmlns:a="http://schemas.openxmlformats.org/drawingml/2006/main" noGrp="1"/>
          </p:cNvSpPr>
          <p:nvPr/>
        </p:nvSpPr>
        <p:spPr>
          <a:xfrm xmlns:a="http://schemas.openxmlformats.org/drawingml/2006/main">
            <a:off x="5429250" y="3714750"/>
            <a:ext cx="5334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9BB7A7"/>
                </a:solidFill>
                <a:latin typeface="Helvetica Neue"/>
                <a:ea typeface="Helvetica Neue"/>
                <a:cs typeface="Helvetica Neue"/>
              </a:defRPr>
            </a:pPr>
            <a:r>
              <a:rPr sz="1575" b="0">
                <a:solidFill>
                  <a:srgbClr val="9BB7A7"/>
                </a:solidFill>
                <a:latin typeface="Helvetica Neue"/>
                <a:ea typeface="Helvetica Neue"/>
                <a:cs typeface="Helvetica Neue"/>
              </a:rPr>
              <a:t>The buyer receives an executable artifact plus validator-owned evidence, without trusting miner-reported timing or correctness.</a:t>
            </a:r>
          </a:p>
        </p:txBody>
      </p:sp>
      <p:sp>
        <p:nvSpPr>
          <p:cNvPr id="13" name="">
            <a:extLst xmlns:a="http://schemas.openxmlformats.org/drawingml/2006/main">
              <a:ext uri="{FF2B5EF4-FFF2-40B4-BE49-F238E27FC236}">
                <a16:creationId xmlns:a16="http://schemas.microsoft.com/office/drawing/2014/main" id="{148009AF-9B4E-4942-B222-27D330A6DDDA}"/>
              </a:ext>
            </a:extLst>
          </p:cNvPr>
          <p:cNvSpPr>
            <a:spLocks xmlns:a="http://schemas.openxmlformats.org/drawingml/2006/main" noGrp="1"/>
          </p:cNvSpPr>
          <p:nvPr/>
        </p:nvSpPr>
        <p:spPr>
          <a:xfrm xmlns:a="http://schemas.openxmlformats.org/drawingml/2006/main">
            <a:off x="647700" y="561975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4D35E"/>
                </a:solidFill>
                <a:latin typeface="Helvetica Neue"/>
                <a:ea typeface="Helvetica Neue"/>
                <a:cs typeface="Helvetica Neue"/>
              </a:defRPr>
            </a:pPr>
            <a:r>
              <a:rPr sz="1500" b="1">
                <a:solidFill>
                  <a:srgbClr val="F4D35E"/>
                </a:solidFill>
                <a:latin typeface="Helvetica Neue"/>
                <a:ea typeface="Helvetica Neue"/>
                <a:cs typeface="Helvetica Neue"/>
              </a:rPr>
              <a:t>Wedge: recurring regression work for database and data-platform teams</a:t>
            </a:r>
          </a:p>
        </p:txBody>
      </p:sp>
    </p:spTree>
    <p:extLst>
      <p:ext uri="{BB962C8B-B14F-4D97-AF65-F5344CB8AC3E}">
        <p14:creationId xmlns:p14="http://schemas.microsoft.com/office/powerpoint/2010/main" val="447948172"/>
      </p:ext>
    </p:extLst>
  </p:cSld>
</p:sld>
</file>

<file path=ppt/slides/slide3.xml><?xml version="1.0" encoding="utf-8"?>
<p:sld xmlns:p="http://schemas.openxmlformats.org/presentationml/2006/main">
  <p:cSld>
    <p:bg>
      <p:bgPr>
        <a:solidFill xmlns:a="http://schemas.openxmlformats.org/drawingml/2006/main">
          <a:srgbClr val="03110C"/>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2ECA07E-2111-45B0-9028-3B4F213C26A3}"/>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1">
                <a:solidFill>
                  <a:srgbClr val="6BFF8B"/>
                </a:solidFill>
                <a:latin typeface="Helvetica Neue"/>
                <a:ea typeface="Helvetica Neue"/>
                <a:cs typeface="Helvetica Neue"/>
              </a:defRPr>
            </a:pPr>
            <a:r>
              <a:rPr sz="900" b="1">
                <a:solidFill>
                  <a:srgbClr val="6BFF8B"/>
                </a:solidFill>
                <a:latin typeface="Helvetica Neue"/>
                <a:ea typeface="Helvetica Neue"/>
                <a:cs typeface="Helvetica Neue"/>
              </a:rPr>
              <a:t>DIGITAL COMMODITY</a:t>
            </a:r>
          </a:p>
        </p:txBody>
      </p:sp>
      <p:sp>
        <p:nvSpPr>
          <p:cNvPr id="2" name="">
            <a:extLst xmlns:a="http://schemas.openxmlformats.org/drawingml/2006/main">
              <a:ext uri="{FF2B5EF4-FFF2-40B4-BE49-F238E27FC236}">
                <a16:creationId xmlns:a16="http://schemas.microsoft.com/office/drawing/2014/main" id="{94E7364C-80DF-4E76-939F-15EC9F376B63}"/>
              </a:ext>
            </a:extLst>
          </p:cNvPr>
          <p:cNvSpPr>
            <a:spLocks xmlns:a="http://schemas.openxmlformats.org/drawingml/2006/main" noGrp="1"/>
          </p:cNvSpPr>
          <p:nvPr/>
        </p:nvSpPr>
        <p:spPr>
          <a:xfrm xmlns:a="http://schemas.openxmlformats.org/drawingml/2006/main">
            <a:off x="11239500" y="266700"/>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00" b="0">
                <a:solidFill>
                  <a:srgbClr val="9BB7A7"/>
                </a:solidFill>
                <a:latin typeface="Helvetica Neue"/>
                <a:ea typeface="Helvetica Neue"/>
                <a:cs typeface="Helvetica Neue"/>
              </a:defRPr>
            </a:pPr>
            <a:r>
              <a:rPr sz="900" b="0">
                <a:solidFill>
                  <a:srgbClr val="9BB7A7"/>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98D8F98C-3213-4975-A4C0-7DD421466AC3}"/>
              </a:ext>
            </a:extLst>
          </p:cNvPr>
          <p:cNvSpPr>
            <a:spLocks xmlns:a="http://schemas.openxmlformats.org/drawingml/2006/main" noGrp="1"/>
          </p:cNvSpPr>
          <p:nvPr/>
        </p:nvSpPr>
        <p:spPr>
          <a:xfrm xmlns:a="http://schemas.openxmlformats.org/drawingml/2006/main">
            <a:off x="609600" y="6534150"/>
            <a:ext cx="10972800" cy="0"/>
          </a:xfrm>
          <a:prstGeom xmlns:a="http://schemas.openxmlformats.org/drawingml/2006/main" prst="line">
            <a:avLst/>
          </a:prstGeom>
          <a:noFill xmlns:a="http://schemas.openxmlformats.org/drawingml/2006/main"/>
          <a:ln xmlns:a="http://schemas.openxmlformats.org/drawingml/2006/main" w="9525">
            <a:solidFill>
              <a:srgbClr val="1F5138"/>
            </a:solidFill>
          </a:ln>
        </p:spPr>
      </p:sp>
      <p:sp>
        <p:nvSpPr>
          <p:cNvPr id="4" name="">
            <a:extLst xmlns:a="http://schemas.openxmlformats.org/drawingml/2006/main">
              <a:ext uri="{FF2B5EF4-FFF2-40B4-BE49-F238E27FC236}">
                <a16:creationId xmlns:a16="http://schemas.microsoft.com/office/drawing/2014/main" id="{CA267714-4B14-43BD-8A3F-E029F86961A9}"/>
              </a:ext>
            </a:extLst>
          </p:cNvPr>
          <p:cNvSpPr>
            <a:spLocks xmlns:a="http://schemas.openxmlformats.org/drawingml/2006/main" noGrp="1"/>
          </p:cNvSpPr>
          <p:nvPr/>
        </p:nvSpPr>
        <p:spPr>
          <a:xfrm xmlns:a="http://schemas.openxmlformats.org/drawingml/2006/main">
            <a:off x="609600" y="657225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675" b="0">
                <a:solidFill>
                  <a:srgbClr val="9BB7A7"/>
                </a:solidFill>
                <a:latin typeface="Helvetica Neue"/>
                <a:ea typeface="Helvetica Neue"/>
                <a:cs typeface="Helvetica Neue"/>
              </a:defRPr>
            </a:pPr>
            <a:r>
              <a:rPr sz="675" b="0">
                <a:solidFill>
                  <a:srgbClr val="9BB7A7"/>
                </a:solidFill>
                <a:latin typeface="Helvetica Neue"/>
                <a:ea typeface="Helvetica Neue"/>
                <a:cs typeface="Helvetica Neue"/>
              </a:rPr>
              <a:t>PlanRace · Bittensor Global Subnet Hackathon · Checkpoint draft</a:t>
            </a:r>
          </a:p>
        </p:txBody>
      </p:sp>
      <p:sp>
        <p:nvSpPr>
          <p:cNvPr id="5" name="">
            <a:extLst xmlns:a="http://schemas.openxmlformats.org/drawingml/2006/main">
              <a:ext uri="{FF2B5EF4-FFF2-40B4-BE49-F238E27FC236}">
                <a16:creationId xmlns:a16="http://schemas.microsoft.com/office/drawing/2014/main" id="{B6A0167C-777D-4756-9B5C-77A6ADB14C62}"/>
              </a:ext>
            </a:extLst>
          </p:cNvPr>
          <p:cNvSpPr>
            <a:spLocks xmlns:a="http://schemas.openxmlformats.org/drawingml/2006/main" noGrp="1"/>
          </p:cNvSpPr>
          <p:nvPr/>
        </p:nvSpPr>
        <p:spPr>
          <a:xfrm xmlns:a="http://schemas.openxmlformats.org/drawingml/2006/main">
            <a:off x="609600" y="60960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F0FFF4"/>
                </a:solidFill>
                <a:latin typeface="Helvetica Neue"/>
                <a:ea typeface="Helvetica Neue"/>
                <a:cs typeface="Helvetica Neue"/>
              </a:defRPr>
            </a:pPr>
            <a:r>
              <a:rPr sz="2700" b="1">
                <a:solidFill>
                  <a:srgbClr val="F0FFF4"/>
                </a:solidFill>
                <a:latin typeface="Helvetica Neue"/>
                <a:ea typeface="Helvetica Neue"/>
                <a:cs typeface="Helvetica Neue"/>
              </a:rPr>
              <a:t>A bounded executable index plan</a:t>
            </a:r>
          </a:p>
        </p:txBody>
      </p:sp>
      <p:sp>
        <p:nvSpPr>
          <p:cNvPr id="6" name="">
            <a:extLst xmlns:a="http://schemas.openxmlformats.org/drawingml/2006/main">
              <a:ext uri="{FF2B5EF4-FFF2-40B4-BE49-F238E27FC236}">
                <a16:creationId xmlns:a16="http://schemas.microsoft.com/office/drawing/2014/main" id="{DCEF63D9-40BC-41DE-B4F6-538E59F59DD2}"/>
              </a:ext>
            </a:extLst>
          </p:cNvPr>
          <p:cNvSpPr>
            <a:spLocks xmlns:a="http://schemas.openxmlformats.org/drawingml/2006/main" noGrp="1"/>
          </p:cNvSpPr>
          <p:nvPr/>
        </p:nvSpPr>
        <p:spPr>
          <a:xfrm xmlns:a="http://schemas.openxmlformats.org/drawingml/2006/main">
            <a:off x="609600" y="120015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9BB7A7"/>
                </a:solidFill>
                <a:latin typeface="Helvetica Neue"/>
                <a:ea typeface="Helvetica Neue"/>
                <a:cs typeface="Helvetica Neue"/>
              </a:defRPr>
            </a:pPr>
            <a:r>
              <a:rPr sz="1350" b="0">
                <a:solidFill>
                  <a:srgbClr val="9BB7A7"/>
                </a:solidFill>
                <a:latin typeface="Helvetica Neue"/>
                <a:ea typeface="Helvetica Neue"/>
                <a:cs typeface="Helvetica Neue"/>
              </a:rPr>
              <a:t>Miners optimize an already-correct query. They never return an answer or self-reported benchmark.</a:t>
            </a:r>
          </a:p>
        </p:txBody>
      </p:sp>
      <p:sp>
        <p:nvSpPr>
          <p:cNvPr id="7" name="">
            <a:extLst xmlns:a="http://schemas.openxmlformats.org/drawingml/2006/main">
              <a:ext uri="{FF2B5EF4-FFF2-40B4-BE49-F238E27FC236}">
                <a16:creationId xmlns:a16="http://schemas.microsoft.com/office/drawing/2014/main" id="{03181AF6-300A-4200-B203-2CE79F810B6A}"/>
              </a:ext>
            </a:extLst>
          </p:cNvPr>
          <p:cNvSpPr>
            <a:spLocks xmlns:a="http://schemas.openxmlformats.org/drawingml/2006/main" noGrp="1"/>
          </p:cNvSpPr>
          <p:nvPr/>
        </p:nvSpPr>
        <p:spPr>
          <a:xfrm xmlns:a="http://schemas.openxmlformats.org/drawingml/2006/main">
            <a:off x="609600" y="1981200"/>
            <a:ext cx="5391150" cy="3429000"/>
          </a:xfrm>
          <a:prstGeom xmlns:a="http://schemas.openxmlformats.org/drawingml/2006/main" prst="roundRect">
            <a:avLst>
              <a:gd name="adj" fmla="val 2222"/>
            </a:avLst>
          </a:prstGeom>
          <a:solidFill xmlns:a="http://schemas.openxmlformats.org/drawingml/2006/main">
            <a:srgbClr val="082219"/>
          </a:solidFill>
          <a:ln xmlns:a="http://schemas.openxmlformats.org/drawingml/2006/main" w="9525">
            <a:solidFill>
              <a:srgbClr val="1F5138"/>
            </a:solidFill>
          </a:ln>
        </p:spPr>
      </p:sp>
      <p:sp>
        <p:nvSpPr>
          <p:cNvPr id="8" name="">
            <a:extLst xmlns:a="http://schemas.openxmlformats.org/drawingml/2006/main">
              <a:ext uri="{FF2B5EF4-FFF2-40B4-BE49-F238E27FC236}">
                <a16:creationId xmlns:a16="http://schemas.microsoft.com/office/drawing/2014/main" id="{562871DD-E097-4EA3-9777-A0CEB877C83E}"/>
              </a:ext>
            </a:extLst>
          </p:cNvPr>
          <p:cNvSpPr>
            <a:spLocks xmlns:a="http://schemas.openxmlformats.org/drawingml/2006/main" noGrp="1"/>
          </p:cNvSpPr>
          <p:nvPr/>
        </p:nvSpPr>
        <p:spPr>
          <a:xfrm xmlns:a="http://schemas.openxmlformats.org/drawingml/2006/main">
            <a:off x="895350" y="220980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6BFF8B"/>
                </a:solidFill>
                <a:latin typeface="Helvetica Neue"/>
                <a:ea typeface="Helvetica Neue"/>
                <a:cs typeface="Helvetica Neue"/>
              </a:defRPr>
            </a:pPr>
            <a:r>
              <a:rPr sz="975" b="1">
                <a:solidFill>
                  <a:srgbClr val="6BFF8B"/>
                </a:solidFill>
                <a:latin typeface="Helvetica Neue"/>
                <a:ea typeface="Helvetica Neue"/>
                <a:cs typeface="Helvetica Neue"/>
              </a:rPr>
              <a:t>MINER OUTPUT</a:t>
            </a:r>
          </a:p>
        </p:txBody>
      </p:sp>
      <p:sp>
        <p:nvSpPr>
          <p:cNvPr id="9" name="">
            <a:extLst xmlns:a="http://schemas.openxmlformats.org/drawingml/2006/main">
              <a:ext uri="{FF2B5EF4-FFF2-40B4-BE49-F238E27FC236}">
                <a16:creationId xmlns:a16="http://schemas.microsoft.com/office/drawing/2014/main" id="{BCE277C0-D7EB-4879-9C6C-0518158C62AC}"/>
              </a:ext>
            </a:extLst>
          </p:cNvPr>
          <p:cNvSpPr>
            <a:spLocks xmlns:a="http://schemas.openxmlformats.org/drawingml/2006/main" noGrp="1"/>
          </p:cNvSpPr>
          <p:nvPr/>
        </p:nvSpPr>
        <p:spPr>
          <a:xfrm xmlns:a="http://schemas.openxmlformats.org/drawingml/2006/main">
            <a:off x="895350" y="2609850"/>
            <a:ext cx="47625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F0FFF4"/>
                </a:solidFill>
                <a:latin typeface="Menlo"/>
                <a:ea typeface="Menlo"/>
                <a:cs typeface="Menlo"/>
              </a:defRPr>
            </a:pPr>
            <a:r>
              <a:rPr sz="1575" b="0">
                <a:solidFill>
                  <a:srgbClr val="F0FFF4"/>
                </a:solidFill>
                <a:latin typeface="Menlo"/>
                <a:ea typeface="Menlo"/>
                <a:cs typeface="Menlo"/>
              </a:rPr>
              <a:t>{</a:t>
            </a:r>
          </a:p>
          <a:p xmlns:a="http://schemas.openxmlformats.org/drawingml/2006/main">
            <a:pPr algn="l">
              <a:defRPr sz="1575" b="0">
                <a:solidFill>
                  <a:srgbClr val="F0FFF4"/>
                </a:solidFill>
                <a:latin typeface="Menlo"/>
                <a:ea typeface="Menlo"/>
                <a:cs typeface="Menlo"/>
              </a:defRPr>
            </a:pPr>
            <a:r>
              <a:rPr sz="1575" b="0">
                <a:solidFill>
                  <a:srgbClr val="F0FFF4"/>
                </a:solidFill>
                <a:latin typeface="Menlo"/>
                <a:ea typeface="Menlo"/>
                <a:cs typeface="Menlo"/>
              </a:rPr>
              <a:t>  "table": "orders",</a:t>
            </a:r>
          </a:p>
          <a:p xmlns:a="http://schemas.openxmlformats.org/drawingml/2006/main">
            <a:pPr algn="l">
              <a:defRPr sz="1575" b="0">
                <a:solidFill>
                  <a:srgbClr val="F0FFF4"/>
                </a:solidFill>
                <a:latin typeface="Menlo"/>
                <a:ea typeface="Menlo"/>
                <a:cs typeface="Menlo"/>
              </a:defRPr>
            </a:pPr>
            <a:r>
              <a:rPr sz="1575" b="0">
                <a:solidFill>
                  <a:srgbClr val="F0FFF4"/>
                </a:solidFill>
                <a:latin typeface="Menlo"/>
                <a:ea typeface="Menlo"/>
                <a:cs typeface="Menlo"/>
              </a:rPr>
              <a:t>  "key_columns": ["status", "customer_id"],</a:t>
            </a:r>
          </a:p>
          <a:p xmlns:a="http://schemas.openxmlformats.org/drawingml/2006/main">
            <a:pPr algn="l">
              <a:defRPr sz="1575" b="0">
                <a:solidFill>
                  <a:srgbClr val="F0FFF4"/>
                </a:solidFill>
                <a:latin typeface="Menlo"/>
                <a:ea typeface="Menlo"/>
                <a:cs typeface="Menlo"/>
              </a:defRPr>
            </a:pPr>
            <a:r>
              <a:rPr sz="1575" b="0">
                <a:solidFill>
                  <a:srgbClr val="F0FFF4"/>
                </a:solidFill>
                <a:latin typeface="Menlo"/>
                <a:ea typeface="Menlo"/>
                <a:cs typeface="Menlo"/>
              </a:rPr>
              <a:t>  "include_columns": ["amount_cents"],</a:t>
            </a:r>
          </a:p>
          <a:p xmlns:a="http://schemas.openxmlformats.org/drawingml/2006/main">
            <a:pPr algn="l">
              <a:defRPr sz="1575" b="0">
                <a:solidFill>
                  <a:srgbClr val="F0FFF4"/>
                </a:solidFill>
                <a:latin typeface="Menlo"/>
                <a:ea typeface="Menlo"/>
                <a:cs typeface="Menlo"/>
              </a:defRPr>
            </a:pPr>
            <a:r>
              <a:rPr sz="1575" b="0">
                <a:solidFill>
                  <a:srgbClr val="F0FFF4"/>
                </a:solidFill>
                <a:latin typeface="Menlo"/>
                <a:ea typeface="Menlo"/>
                <a:cs typeface="Menlo"/>
              </a:rPr>
              <a:t>  "predicate": "status = ?"</a:t>
            </a:r>
          </a:p>
          <a:p xmlns:a="http://schemas.openxmlformats.org/drawingml/2006/main">
            <a:pPr algn="l">
              <a:defRPr sz="1575" b="0">
                <a:solidFill>
                  <a:srgbClr val="F0FFF4"/>
                </a:solidFill>
                <a:latin typeface="Menlo"/>
                <a:ea typeface="Menlo"/>
                <a:cs typeface="Menlo"/>
              </a:defRPr>
            </a:pPr>
            <a:r>
              <a:rPr sz="1575" b="0">
                <a:solidFill>
                  <a:srgbClr val="F0FFF4"/>
                </a:solidFill>
                <a:latin typeface="Menlo"/>
                <a:ea typeface="Menlo"/>
                <a:cs typeface="Menlo"/>
              </a:rPr>
              <a:t>}</a:t>
            </a:r>
          </a:p>
        </p:txBody>
      </p:sp>
      <p:sp>
        <p:nvSpPr>
          <p:cNvPr id="10" name="">
            <a:extLst xmlns:a="http://schemas.openxmlformats.org/drawingml/2006/main">
              <a:ext uri="{FF2B5EF4-FFF2-40B4-BE49-F238E27FC236}">
                <a16:creationId xmlns:a16="http://schemas.microsoft.com/office/drawing/2014/main" id="{92CD7C34-E534-4F13-8089-8BFA5770D0D8}"/>
              </a:ext>
            </a:extLst>
          </p:cNvPr>
          <p:cNvSpPr>
            <a:spLocks xmlns:a="http://schemas.openxmlformats.org/drawingml/2006/main" noGrp="1"/>
          </p:cNvSpPr>
          <p:nvPr/>
        </p:nvSpPr>
        <p:spPr>
          <a:xfrm xmlns:a="http://schemas.openxmlformats.org/drawingml/2006/main">
            <a:off x="6572250" y="2057400"/>
            <a:ext cx="447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F0FFF4"/>
                </a:solidFill>
                <a:latin typeface="Helvetica Neue"/>
                <a:ea typeface="Helvetica Neue"/>
                <a:cs typeface="Helvetica Neue"/>
              </a:defRPr>
            </a:pPr>
            <a:r>
              <a:rPr sz="1875" b="1">
                <a:solidFill>
                  <a:srgbClr val="F0FFF4"/>
                </a:solidFill>
                <a:latin typeface="Helvetica Neue"/>
                <a:ea typeface="Helvetica Neue"/>
                <a:cs typeface="Helvetica Neue"/>
              </a:rPr>
              <a:t>Validator-owned boundary</a:t>
            </a:r>
          </a:p>
        </p:txBody>
      </p:sp>
      <p:sp>
        <p:nvSpPr>
          <p:cNvPr id="11" name="">
            <a:extLst xmlns:a="http://schemas.openxmlformats.org/drawingml/2006/main">
              <a:ext uri="{FF2B5EF4-FFF2-40B4-BE49-F238E27FC236}">
                <a16:creationId xmlns:a16="http://schemas.microsoft.com/office/drawing/2014/main" id="{31C874CC-22A2-4D0C-B5DB-F34E9AF86AFF}"/>
              </a:ext>
            </a:extLst>
          </p:cNvPr>
          <p:cNvSpPr>
            <a:spLocks xmlns:a="http://schemas.openxmlformats.org/drawingml/2006/main" noGrp="1"/>
          </p:cNvSpPr>
          <p:nvPr/>
        </p:nvSpPr>
        <p:spPr>
          <a:xfrm xmlns:a="http://schemas.openxmlformats.org/drawingml/2006/main">
            <a:off x="6572250" y="26479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6BFF8B"/>
                </a:solidFill>
                <a:latin typeface="Helvetica Neue"/>
                <a:ea typeface="Helvetica Neue"/>
                <a:cs typeface="Helvetica Neue"/>
              </a:defRPr>
            </a:pPr>
            <a:r>
              <a:rPr sz="1350" b="1">
                <a:solidFill>
                  <a:srgbClr val="6BFF8B"/>
                </a:solidFill>
                <a:latin typeface="Helvetica Neue"/>
                <a:ea typeface="Helvetica Neue"/>
                <a:cs typeface="Helvetica Neue"/>
              </a:rPr>
              <a:t>Structured grammar</a:t>
            </a:r>
          </a:p>
        </p:txBody>
      </p:sp>
      <p:sp>
        <p:nvSpPr>
          <p:cNvPr id="12" name="">
            <a:extLst xmlns:a="http://schemas.openxmlformats.org/drawingml/2006/main">
              <a:ext uri="{FF2B5EF4-FFF2-40B4-BE49-F238E27FC236}">
                <a16:creationId xmlns:a16="http://schemas.microsoft.com/office/drawing/2014/main" id="{3E5F46C4-00EE-402A-8D43-D3D6077ACE0C}"/>
              </a:ext>
            </a:extLst>
          </p:cNvPr>
          <p:cNvSpPr>
            <a:spLocks xmlns:a="http://schemas.openxmlformats.org/drawingml/2006/main" noGrp="1"/>
          </p:cNvSpPr>
          <p:nvPr/>
        </p:nvSpPr>
        <p:spPr>
          <a:xfrm xmlns:a="http://schemas.openxmlformats.org/drawingml/2006/main">
            <a:off x="8620125" y="2647950"/>
            <a:ext cx="276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9BB7A7"/>
                </a:solidFill>
                <a:latin typeface="Helvetica Neue"/>
                <a:ea typeface="Helvetica Neue"/>
                <a:cs typeface="Helvetica Neue"/>
              </a:defRPr>
            </a:pPr>
            <a:r>
              <a:rPr sz="1125" b="0">
                <a:solidFill>
                  <a:srgbClr val="9BB7A7"/>
                </a:solidFill>
                <a:latin typeface="Helvetica Neue"/>
                <a:ea typeface="Helvetica Neue"/>
                <a:cs typeface="Helvetica Neue"/>
              </a:rPr>
              <a:t>No arbitrary miner SQL or executable code</a:t>
            </a:r>
          </a:p>
        </p:txBody>
      </p:sp>
      <p:sp>
        <p:nvSpPr>
          <p:cNvPr id="13" name="">
            <a:extLst xmlns:a="http://schemas.openxmlformats.org/drawingml/2006/main">
              <a:ext uri="{FF2B5EF4-FFF2-40B4-BE49-F238E27FC236}">
                <a16:creationId xmlns:a16="http://schemas.microsoft.com/office/drawing/2014/main" id="{47A0657F-94BD-4A28-8D63-E71E4837F878}"/>
              </a:ext>
            </a:extLst>
          </p:cNvPr>
          <p:cNvSpPr>
            <a:spLocks xmlns:a="http://schemas.openxmlformats.org/drawingml/2006/main" noGrp="1"/>
          </p:cNvSpPr>
          <p:nvPr/>
        </p:nvSpPr>
        <p:spPr>
          <a:xfrm xmlns:a="http://schemas.openxmlformats.org/drawingml/2006/main">
            <a:off x="6572250" y="3238500"/>
            <a:ext cx="4762500" cy="0"/>
          </a:xfrm>
          <a:prstGeom xmlns:a="http://schemas.openxmlformats.org/drawingml/2006/main" prst="line">
            <a:avLst/>
          </a:prstGeom>
          <a:noFill xmlns:a="http://schemas.openxmlformats.org/drawingml/2006/main"/>
          <a:ln xmlns:a="http://schemas.openxmlformats.org/drawingml/2006/main" w="9525">
            <a:solidFill>
              <a:srgbClr val="1F5138"/>
            </a:solidFill>
          </a:ln>
        </p:spPr>
      </p:sp>
      <p:sp>
        <p:nvSpPr>
          <p:cNvPr id="14" name="">
            <a:extLst xmlns:a="http://schemas.openxmlformats.org/drawingml/2006/main">
              <a:ext uri="{FF2B5EF4-FFF2-40B4-BE49-F238E27FC236}">
                <a16:creationId xmlns:a16="http://schemas.microsoft.com/office/drawing/2014/main" id="{D9402355-221D-4DBC-942C-6D7C357EC5A7}"/>
              </a:ext>
            </a:extLst>
          </p:cNvPr>
          <p:cNvSpPr>
            <a:spLocks xmlns:a="http://schemas.openxmlformats.org/drawingml/2006/main" noGrp="1"/>
          </p:cNvSpPr>
          <p:nvPr/>
        </p:nvSpPr>
        <p:spPr>
          <a:xfrm xmlns:a="http://schemas.openxmlformats.org/drawingml/2006/main">
            <a:off x="6572250" y="33909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6BFF8B"/>
                </a:solidFill>
                <a:latin typeface="Helvetica Neue"/>
                <a:ea typeface="Helvetica Neue"/>
                <a:cs typeface="Helvetica Neue"/>
              </a:defRPr>
            </a:pPr>
            <a:r>
              <a:rPr sz="1350" b="1">
                <a:solidFill>
                  <a:srgbClr val="6BFF8B"/>
                </a:solidFill>
                <a:latin typeface="Helvetica Neue"/>
                <a:ea typeface="Helvetica Neue"/>
                <a:cs typeface="Helvetica Neue"/>
              </a:rPr>
              <a:t>Pinned engine</a:t>
            </a:r>
          </a:p>
        </p:txBody>
      </p:sp>
      <p:sp>
        <p:nvSpPr>
          <p:cNvPr id="15" name="">
            <a:extLst xmlns:a="http://schemas.openxmlformats.org/drawingml/2006/main">
              <a:ext uri="{FF2B5EF4-FFF2-40B4-BE49-F238E27FC236}">
                <a16:creationId xmlns:a16="http://schemas.microsoft.com/office/drawing/2014/main" id="{11723EA3-821B-4255-852F-BDC7259806D9}"/>
              </a:ext>
            </a:extLst>
          </p:cNvPr>
          <p:cNvSpPr>
            <a:spLocks xmlns:a="http://schemas.openxmlformats.org/drawingml/2006/main" noGrp="1"/>
          </p:cNvSpPr>
          <p:nvPr/>
        </p:nvSpPr>
        <p:spPr>
          <a:xfrm xmlns:a="http://schemas.openxmlformats.org/drawingml/2006/main">
            <a:off x="8620125" y="3390900"/>
            <a:ext cx="276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9BB7A7"/>
                </a:solidFill>
                <a:latin typeface="Helvetica Neue"/>
                <a:ea typeface="Helvetica Neue"/>
                <a:cs typeface="Helvetica Neue"/>
              </a:defRPr>
            </a:pPr>
            <a:r>
              <a:rPr sz="1125" b="0">
                <a:solidFill>
                  <a:srgbClr val="9BB7A7"/>
                </a:solidFill>
                <a:latin typeface="Helvetica Neue"/>
                <a:ea typeface="Helvetica Neue"/>
                <a:cs typeface="Helvetica Neue"/>
              </a:rPr>
              <a:t>Same baseline, fixture, worker, and policy</a:t>
            </a:r>
          </a:p>
        </p:txBody>
      </p:sp>
      <p:sp>
        <p:nvSpPr>
          <p:cNvPr id="16" name="">
            <a:extLst xmlns:a="http://schemas.openxmlformats.org/drawingml/2006/main">
              <a:ext uri="{FF2B5EF4-FFF2-40B4-BE49-F238E27FC236}">
                <a16:creationId xmlns:a16="http://schemas.microsoft.com/office/drawing/2014/main" id="{B39E0C78-0926-4565-9CC0-EDE70BCCB2A0}"/>
              </a:ext>
            </a:extLst>
          </p:cNvPr>
          <p:cNvSpPr>
            <a:spLocks xmlns:a="http://schemas.openxmlformats.org/drawingml/2006/main" noGrp="1"/>
          </p:cNvSpPr>
          <p:nvPr/>
        </p:nvSpPr>
        <p:spPr>
          <a:xfrm xmlns:a="http://schemas.openxmlformats.org/drawingml/2006/main">
            <a:off x="6572250" y="3981450"/>
            <a:ext cx="4762500" cy="0"/>
          </a:xfrm>
          <a:prstGeom xmlns:a="http://schemas.openxmlformats.org/drawingml/2006/main" prst="line">
            <a:avLst/>
          </a:prstGeom>
          <a:noFill xmlns:a="http://schemas.openxmlformats.org/drawingml/2006/main"/>
          <a:ln xmlns:a="http://schemas.openxmlformats.org/drawingml/2006/main" w="9525">
            <a:solidFill>
              <a:srgbClr val="1F5138"/>
            </a:solidFill>
          </a:ln>
        </p:spPr>
      </p:sp>
      <p:sp>
        <p:nvSpPr>
          <p:cNvPr id="17" name="">
            <a:extLst xmlns:a="http://schemas.openxmlformats.org/drawingml/2006/main">
              <a:ext uri="{FF2B5EF4-FFF2-40B4-BE49-F238E27FC236}">
                <a16:creationId xmlns:a16="http://schemas.microsoft.com/office/drawing/2014/main" id="{33E5D38C-322E-4990-8F45-C6A1B4170471}"/>
              </a:ext>
            </a:extLst>
          </p:cNvPr>
          <p:cNvSpPr>
            <a:spLocks xmlns:a="http://schemas.openxmlformats.org/drawingml/2006/main" noGrp="1"/>
          </p:cNvSpPr>
          <p:nvPr/>
        </p:nvSpPr>
        <p:spPr>
          <a:xfrm xmlns:a="http://schemas.openxmlformats.org/drawingml/2006/main">
            <a:off x="6572250" y="41338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6BFF8B"/>
                </a:solidFill>
                <a:latin typeface="Helvetica Neue"/>
                <a:ea typeface="Helvetica Neue"/>
                <a:cs typeface="Helvetica Neue"/>
              </a:defRPr>
            </a:pPr>
            <a:r>
              <a:rPr sz="1350" b="1">
                <a:solidFill>
                  <a:srgbClr val="6BFF8B"/>
                </a:solidFill>
                <a:latin typeface="Helvetica Neue"/>
                <a:ea typeface="Helvetica Neue"/>
                <a:cs typeface="Helvetica Neue"/>
              </a:rPr>
              <a:t>Hidden holdouts</a:t>
            </a:r>
          </a:p>
        </p:txBody>
      </p:sp>
      <p:sp>
        <p:nvSpPr>
          <p:cNvPr id="18" name="">
            <a:extLst xmlns:a="http://schemas.openxmlformats.org/drawingml/2006/main">
              <a:ext uri="{FF2B5EF4-FFF2-40B4-BE49-F238E27FC236}">
                <a16:creationId xmlns:a16="http://schemas.microsoft.com/office/drawing/2014/main" id="{DE28311D-B80E-45D9-855C-37FDFF97FC99}"/>
              </a:ext>
            </a:extLst>
          </p:cNvPr>
          <p:cNvSpPr>
            <a:spLocks xmlns:a="http://schemas.openxmlformats.org/drawingml/2006/main" noGrp="1"/>
          </p:cNvSpPr>
          <p:nvPr/>
        </p:nvSpPr>
        <p:spPr>
          <a:xfrm xmlns:a="http://schemas.openxmlformats.org/drawingml/2006/main">
            <a:off x="8620125" y="4133850"/>
            <a:ext cx="276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9BB7A7"/>
                </a:solidFill>
                <a:latin typeface="Helvetica Neue"/>
                <a:ea typeface="Helvetica Neue"/>
                <a:cs typeface="Helvetica Neue"/>
              </a:defRPr>
            </a:pPr>
            <a:r>
              <a:rPr sz="1125" b="0">
                <a:solidFill>
                  <a:srgbClr val="9BB7A7"/>
                </a:solidFill>
                <a:latin typeface="Helvetica Neue"/>
                <a:ea typeface="Helvetica Neue"/>
                <a:cs typeface="Helvetica Neue"/>
              </a:rPr>
              <a:t>Seed and salt stay private until the deadline</a:t>
            </a:r>
          </a:p>
        </p:txBody>
      </p:sp>
      <p:sp>
        <p:nvSpPr>
          <p:cNvPr id="19" name="">
            <a:extLst xmlns:a="http://schemas.openxmlformats.org/drawingml/2006/main">
              <a:ext uri="{FF2B5EF4-FFF2-40B4-BE49-F238E27FC236}">
                <a16:creationId xmlns:a16="http://schemas.microsoft.com/office/drawing/2014/main" id="{EA4BCC31-E051-400B-8A31-3A7E3AEE4D36}"/>
              </a:ext>
            </a:extLst>
          </p:cNvPr>
          <p:cNvSpPr>
            <a:spLocks xmlns:a="http://schemas.openxmlformats.org/drawingml/2006/main" noGrp="1"/>
          </p:cNvSpPr>
          <p:nvPr/>
        </p:nvSpPr>
        <p:spPr>
          <a:xfrm xmlns:a="http://schemas.openxmlformats.org/drawingml/2006/main">
            <a:off x="6572250" y="4724400"/>
            <a:ext cx="4762500" cy="0"/>
          </a:xfrm>
          <a:prstGeom xmlns:a="http://schemas.openxmlformats.org/drawingml/2006/main" prst="line">
            <a:avLst/>
          </a:prstGeom>
          <a:noFill xmlns:a="http://schemas.openxmlformats.org/drawingml/2006/main"/>
          <a:ln xmlns:a="http://schemas.openxmlformats.org/drawingml/2006/main" w="9525">
            <a:solidFill>
              <a:srgbClr val="1F5138"/>
            </a:solidFill>
          </a:ln>
        </p:spPr>
      </p:sp>
      <p:sp>
        <p:nvSpPr>
          <p:cNvPr id="20" name="">
            <a:extLst xmlns:a="http://schemas.openxmlformats.org/drawingml/2006/main">
              <a:ext uri="{FF2B5EF4-FFF2-40B4-BE49-F238E27FC236}">
                <a16:creationId xmlns:a16="http://schemas.microsoft.com/office/drawing/2014/main" id="{CCA10A84-4C08-46EC-B6A3-70FA4417CF92}"/>
              </a:ext>
            </a:extLst>
          </p:cNvPr>
          <p:cNvSpPr>
            <a:spLocks xmlns:a="http://schemas.openxmlformats.org/drawingml/2006/main" noGrp="1"/>
          </p:cNvSpPr>
          <p:nvPr/>
        </p:nvSpPr>
        <p:spPr>
          <a:xfrm xmlns:a="http://schemas.openxmlformats.org/drawingml/2006/main">
            <a:off x="6572250" y="48768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6BFF8B"/>
                </a:solidFill>
                <a:latin typeface="Helvetica Neue"/>
                <a:ea typeface="Helvetica Neue"/>
                <a:cs typeface="Helvetica Neue"/>
              </a:defRPr>
            </a:pPr>
            <a:r>
              <a:rPr sz="1350" b="1">
                <a:solidFill>
                  <a:srgbClr val="6BFF8B"/>
                </a:solidFill>
                <a:latin typeface="Helvetica Neue"/>
                <a:ea typeface="Helvetica Neue"/>
                <a:cs typeface="Helvetica Neue"/>
              </a:rPr>
              <a:t>Exact equality</a:t>
            </a:r>
          </a:p>
        </p:txBody>
      </p:sp>
      <p:sp>
        <p:nvSpPr>
          <p:cNvPr id="21" name="">
            <a:extLst xmlns:a="http://schemas.openxmlformats.org/drawingml/2006/main">
              <a:ext uri="{FF2B5EF4-FFF2-40B4-BE49-F238E27FC236}">
                <a16:creationId xmlns:a16="http://schemas.microsoft.com/office/drawing/2014/main" id="{3450A380-5BEA-44B4-849D-3728CB1635D3}"/>
              </a:ext>
            </a:extLst>
          </p:cNvPr>
          <p:cNvSpPr>
            <a:spLocks xmlns:a="http://schemas.openxmlformats.org/drawingml/2006/main" noGrp="1"/>
          </p:cNvSpPr>
          <p:nvPr/>
        </p:nvSpPr>
        <p:spPr>
          <a:xfrm xmlns:a="http://schemas.openxmlformats.org/drawingml/2006/main">
            <a:off x="8620125" y="4876800"/>
            <a:ext cx="276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9BB7A7"/>
                </a:solidFill>
                <a:latin typeface="Helvetica Neue"/>
                <a:ea typeface="Helvetica Neue"/>
                <a:cs typeface="Helvetica Neue"/>
              </a:defRPr>
            </a:pPr>
            <a:r>
              <a:rPr sz="1125" b="0">
                <a:solidFill>
                  <a:srgbClr val="9BB7A7"/>
                </a:solidFill>
                <a:latin typeface="Helvetica Neue"/>
                <a:ea typeface="Helvetica Neue"/>
                <a:cs typeface="Helvetica Neue"/>
              </a:rPr>
              <a:t>Wrong output receives zero before timing</a:t>
            </a:r>
          </a:p>
        </p:txBody>
      </p:sp>
    </p:spTree>
    <p:extLst>
      <p:ext uri="{BB962C8B-B14F-4D97-AF65-F5344CB8AC3E}">
        <p14:creationId xmlns:p14="http://schemas.microsoft.com/office/powerpoint/2010/main" val="764023480"/>
      </p:ext>
    </p:extLst>
  </p:cSld>
</p:sld>
</file>

<file path=ppt/slides/slide4.xml><?xml version="1.0" encoding="utf-8"?>
<p:sld xmlns:p="http://schemas.openxmlformats.org/presentationml/2006/main">
  <p:cSld>
    <p:bg>
      <p:bgPr>
        <a:solidFill xmlns:a="http://schemas.openxmlformats.org/drawingml/2006/main">
          <a:srgbClr val="03110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8008921E-29E0-4F72-9ACA-157B6D8161DB}"/>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1">
                <a:solidFill>
                  <a:srgbClr val="6BFF8B"/>
                </a:solidFill>
                <a:latin typeface="Helvetica Neue"/>
                <a:ea typeface="Helvetica Neue"/>
                <a:cs typeface="Helvetica Neue"/>
              </a:defRPr>
            </a:pPr>
            <a:r>
              <a:rPr sz="900" b="1">
                <a:solidFill>
                  <a:srgbClr val="6BFF8B"/>
                </a:solidFill>
                <a:latin typeface="Helvetica Neue"/>
                <a:ea typeface="Helvetica Neue"/>
                <a:cs typeface="Helvetica Neue"/>
              </a:rPr>
              <a:t>PROTOCOL</a:t>
            </a:r>
          </a:p>
        </p:txBody>
      </p:sp>
      <p:sp>
        <p:nvSpPr>
          <p:cNvPr id="2" name="">
            <a:extLst xmlns:a="http://schemas.openxmlformats.org/drawingml/2006/main">
              <a:ext uri="{FF2B5EF4-FFF2-40B4-BE49-F238E27FC236}">
                <a16:creationId xmlns:a16="http://schemas.microsoft.com/office/drawing/2014/main" id="{49CD4E7A-F901-4AF2-BA38-4D77DE20C64B}"/>
              </a:ext>
            </a:extLst>
          </p:cNvPr>
          <p:cNvSpPr>
            <a:spLocks xmlns:a="http://schemas.openxmlformats.org/drawingml/2006/main" noGrp="1"/>
          </p:cNvSpPr>
          <p:nvPr/>
        </p:nvSpPr>
        <p:spPr>
          <a:xfrm xmlns:a="http://schemas.openxmlformats.org/drawingml/2006/main">
            <a:off x="11239500" y="266700"/>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00" b="0">
                <a:solidFill>
                  <a:srgbClr val="9BB7A7"/>
                </a:solidFill>
                <a:latin typeface="Helvetica Neue"/>
                <a:ea typeface="Helvetica Neue"/>
                <a:cs typeface="Helvetica Neue"/>
              </a:defRPr>
            </a:pPr>
            <a:r>
              <a:rPr sz="900" b="0">
                <a:solidFill>
                  <a:srgbClr val="9BB7A7"/>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53054ED7-A659-4CCF-98ED-D01D4870FDDE}"/>
              </a:ext>
            </a:extLst>
          </p:cNvPr>
          <p:cNvSpPr>
            <a:spLocks xmlns:a="http://schemas.openxmlformats.org/drawingml/2006/main" noGrp="1"/>
          </p:cNvSpPr>
          <p:nvPr/>
        </p:nvSpPr>
        <p:spPr>
          <a:xfrm xmlns:a="http://schemas.openxmlformats.org/drawingml/2006/main">
            <a:off x="609600" y="6534150"/>
            <a:ext cx="10972800" cy="0"/>
          </a:xfrm>
          <a:prstGeom xmlns:a="http://schemas.openxmlformats.org/drawingml/2006/main" prst="line">
            <a:avLst/>
          </a:prstGeom>
          <a:noFill xmlns:a="http://schemas.openxmlformats.org/drawingml/2006/main"/>
          <a:ln xmlns:a="http://schemas.openxmlformats.org/drawingml/2006/main" w="9525">
            <a:solidFill>
              <a:srgbClr val="1F5138"/>
            </a:solidFill>
          </a:ln>
        </p:spPr>
      </p:sp>
      <p:sp>
        <p:nvSpPr>
          <p:cNvPr id="4" name="">
            <a:extLst xmlns:a="http://schemas.openxmlformats.org/drawingml/2006/main">
              <a:ext uri="{FF2B5EF4-FFF2-40B4-BE49-F238E27FC236}">
                <a16:creationId xmlns:a16="http://schemas.microsoft.com/office/drawing/2014/main" id="{4C74891F-7F5D-4C0E-A2A1-85C2EE22CE77}"/>
              </a:ext>
            </a:extLst>
          </p:cNvPr>
          <p:cNvSpPr>
            <a:spLocks xmlns:a="http://schemas.openxmlformats.org/drawingml/2006/main" noGrp="1"/>
          </p:cNvSpPr>
          <p:nvPr/>
        </p:nvSpPr>
        <p:spPr>
          <a:xfrm xmlns:a="http://schemas.openxmlformats.org/drawingml/2006/main">
            <a:off x="609600" y="657225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675" b="0">
                <a:solidFill>
                  <a:srgbClr val="9BB7A7"/>
                </a:solidFill>
                <a:latin typeface="Helvetica Neue"/>
                <a:ea typeface="Helvetica Neue"/>
                <a:cs typeface="Helvetica Neue"/>
              </a:defRPr>
            </a:pPr>
            <a:r>
              <a:rPr sz="675" b="0">
                <a:solidFill>
                  <a:srgbClr val="9BB7A7"/>
                </a:solidFill>
                <a:latin typeface="Helvetica Neue"/>
                <a:ea typeface="Helvetica Neue"/>
                <a:cs typeface="Helvetica Neue"/>
              </a:rPr>
              <a:t>PlanRace · Bittensor Global Subnet Hackathon · Checkpoint draft</a:t>
            </a:r>
          </a:p>
        </p:txBody>
      </p:sp>
      <p:sp>
        <p:nvSpPr>
          <p:cNvPr id="5" name="">
            <a:extLst xmlns:a="http://schemas.openxmlformats.org/drawingml/2006/main">
              <a:ext uri="{FF2B5EF4-FFF2-40B4-BE49-F238E27FC236}">
                <a16:creationId xmlns:a16="http://schemas.microsoft.com/office/drawing/2014/main" id="{9AAAA46C-E735-4A10-918F-7C27E212BEF8}"/>
              </a:ext>
            </a:extLst>
          </p:cNvPr>
          <p:cNvSpPr>
            <a:spLocks xmlns:a="http://schemas.openxmlformats.org/drawingml/2006/main" noGrp="1"/>
          </p:cNvSpPr>
          <p:nvPr/>
        </p:nvSpPr>
        <p:spPr>
          <a:xfrm xmlns:a="http://schemas.openxmlformats.org/drawingml/2006/main">
            <a:off x="609600" y="60960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F0FFF4"/>
                </a:solidFill>
                <a:latin typeface="Helvetica Neue"/>
                <a:ea typeface="Helvetica Neue"/>
                <a:cs typeface="Helvetica Neue"/>
              </a:defRPr>
            </a:pPr>
            <a:r>
              <a:rPr sz="2700" b="1">
                <a:solidFill>
                  <a:srgbClr val="F0FFF4"/>
                </a:solidFill>
                <a:latin typeface="Helvetica Neue"/>
                <a:ea typeface="Helvetica Neue"/>
                <a:cs typeface="Helvetica Neue"/>
              </a:rPr>
              <a:t>Commit, compete, reveal, verify, reward</a:t>
            </a:r>
          </a:p>
        </p:txBody>
      </p:sp>
      <p:sp>
        <p:nvSpPr>
          <p:cNvPr id="6" name="">
            <a:extLst xmlns:a="http://schemas.openxmlformats.org/drawingml/2006/main">
              <a:ext uri="{FF2B5EF4-FFF2-40B4-BE49-F238E27FC236}">
                <a16:creationId xmlns:a16="http://schemas.microsoft.com/office/drawing/2014/main" id="{4BB8C6FD-71D8-4278-B1B5-753F8CDCBDDC}"/>
              </a:ext>
            </a:extLst>
          </p:cNvPr>
          <p:cNvSpPr>
            <a:spLocks xmlns:a="http://schemas.openxmlformats.org/drawingml/2006/main" noGrp="1"/>
          </p:cNvSpPr>
          <p:nvPr/>
        </p:nvSpPr>
        <p:spPr>
          <a:xfrm xmlns:a="http://schemas.openxmlformats.org/drawingml/2006/main">
            <a:off x="609600" y="120015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9BB7A7"/>
                </a:solidFill>
                <a:latin typeface="Helvetica Neue"/>
                <a:ea typeface="Helvetica Neue"/>
                <a:cs typeface="Helvetica Neue"/>
              </a:defRPr>
            </a:pPr>
            <a:r>
              <a:rPr sz="1350" b="0">
                <a:solidFill>
                  <a:srgbClr val="9BB7A7"/>
                </a:solidFill>
                <a:latin typeface="Helvetica Neue"/>
                <a:ea typeface="Helvetica Neue"/>
                <a:cs typeface="Helvetica Neue"/>
              </a:rPr>
              <a:t>A deadline separates miner discovery from validator-owned hidden evaluation.</a:t>
            </a:r>
          </a:p>
        </p:txBody>
      </p:sp>
      <p:sp>
        <p:nvSpPr>
          <p:cNvPr id="7" name="">
            <a:extLst xmlns:a="http://schemas.openxmlformats.org/drawingml/2006/main">
              <a:ext uri="{FF2B5EF4-FFF2-40B4-BE49-F238E27FC236}">
                <a16:creationId xmlns:a16="http://schemas.microsoft.com/office/drawing/2014/main" id="{D9F50263-33F0-41C9-A827-9AF6A9EC0608}"/>
              </a:ext>
            </a:extLst>
          </p:cNvPr>
          <p:cNvSpPr>
            <a:spLocks xmlns:a="http://schemas.openxmlformats.org/drawingml/2006/main" noGrp="1"/>
          </p:cNvSpPr>
          <p:nvPr/>
        </p:nvSpPr>
        <p:spPr>
          <a:xfrm xmlns:a="http://schemas.openxmlformats.org/drawingml/2006/main">
            <a:off x="2295525" y="3133725"/>
            <a:ext cx="609600" cy="0"/>
          </a:xfrm>
          <a:prstGeom xmlns:a="http://schemas.openxmlformats.org/drawingml/2006/main" prst="line">
            <a:avLst/>
          </a:prstGeom>
          <a:noFill xmlns:a="http://schemas.openxmlformats.org/drawingml/2006/main"/>
          <a:ln xmlns:a="http://schemas.openxmlformats.org/drawingml/2006/main" w="28575">
            <a:solidFill>
              <a:srgbClr val="31D66B"/>
            </a:solidFill>
          </a:ln>
        </p:spPr>
      </p:sp>
      <p:sp>
        <p:nvSpPr>
          <p:cNvPr id="8" name="">
            <a:extLst xmlns:a="http://schemas.openxmlformats.org/drawingml/2006/main">
              <a:ext uri="{FF2B5EF4-FFF2-40B4-BE49-F238E27FC236}">
                <a16:creationId xmlns:a16="http://schemas.microsoft.com/office/drawing/2014/main" id="{537EB663-272B-47A8-A6D7-B9B627C9A410}"/>
              </a:ext>
            </a:extLst>
          </p:cNvPr>
          <p:cNvSpPr>
            <a:spLocks xmlns:a="http://schemas.openxmlformats.org/drawingml/2006/main" noGrp="1"/>
          </p:cNvSpPr>
          <p:nvPr/>
        </p:nvSpPr>
        <p:spPr>
          <a:xfrm xmlns:a="http://schemas.openxmlformats.org/drawingml/2006/main">
            <a:off x="609600" y="24193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a:solidFill>
                  <a:srgbClr val="6BFF8B"/>
                </a:solidFill>
                <a:latin typeface="Helvetica Neue"/>
                <a:ea typeface="Helvetica Neue"/>
                <a:cs typeface="Helvetica Neue"/>
              </a:defRPr>
            </a:pPr>
            <a:r>
              <a:rPr sz="1050" b="1">
                <a:solidFill>
                  <a:srgbClr val="6BFF8B"/>
                </a:solidFill>
                <a:latin typeface="Helvetica Neue"/>
                <a:ea typeface="Helvetica Neue"/>
                <a:cs typeface="Helvetica Neue"/>
              </a:rPr>
              <a:t>01</a:t>
            </a:r>
          </a:p>
        </p:txBody>
      </p:sp>
      <p:sp>
        <p:nvSpPr>
          <p:cNvPr id="9" name="">
            <a:extLst xmlns:a="http://schemas.openxmlformats.org/drawingml/2006/main">
              <a:ext uri="{FF2B5EF4-FFF2-40B4-BE49-F238E27FC236}">
                <a16:creationId xmlns:a16="http://schemas.microsoft.com/office/drawing/2014/main" id="{7F9CF914-0C62-4CF0-B11A-D1DE779F6942}"/>
              </a:ext>
            </a:extLst>
          </p:cNvPr>
          <p:cNvSpPr>
            <a:spLocks xmlns:a="http://schemas.openxmlformats.org/drawingml/2006/main" noGrp="1"/>
          </p:cNvSpPr>
          <p:nvPr/>
        </p:nvSpPr>
        <p:spPr>
          <a:xfrm xmlns:a="http://schemas.openxmlformats.org/drawingml/2006/main">
            <a:off x="609600" y="2705100"/>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0FFF4"/>
                </a:solidFill>
                <a:latin typeface="Helvetica Neue"/>
                <a:ea typeface="Helvetica Neue"/>
                <a:cs typeface="Helvetica Neue"/>
              </a:defRPr>
            </a:pPr>
            <a:r>
              <a:rPr sz="1650" b="1">
                <a:solidFill>
                  <a:srgbClr val="F0FFF4"/>
                </a:solidFill>
                <a:latin typeface="Helvetica Neue"/>
                <a:ea typeface="Helvetica Neue"/>
                <a:cs typeface="Helvetica Neue"/>
              </a:rPr>
              <a:t>Commit</a:t>
            </a:r>
          </a:p>
        </p:txBody>
      </p:sp>
      <p:sp>
        <p:nvSpPr>
          <p:cNvPr id="10" name="">
            <a:extLst xmlns:a="http://schemas.openxmlformats.org/drawingml/2006/main">
              <a:ext uri="{FF2B5EF4-FFF2-40B4-BE49-F238E27FC236}">
                <a16:creationId xmlns:a16="http://schemas.microsoft.com/office/drawing/2014/main" id="{9A7CC700-6F66-4CE2-986F-D77F273ACF0D}"/>
              </a:ext>
            </a:extLst>
          </p:cNvPr>
          <p:cNvSpPr>
            <a:spLocks xmlns:a="http://schemas.openxmlformats.org/drawingml/2006/main" noGrp="1"/>
          </p:cNvSpPr>
          <p:nvPr/>
        </p:nvSpPr>
        <p:spPr>
          <a:xfrm xmlns:a="http://schemas.openxmlformats.org/drawingml/2006/main">
            <a:off x="609600" y="3086100"/>
            <a:ext cx="171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0">
                <a:solidFill>
                  <a:srgbClr val="9BB7A7"/>
                </a:solidFill>
                <a:latin typeface="Helvetica Neue"/>
                <a:ea typeface="Helvetica Neue"/>
                <a:cs typeface="Helvetica Neue"/>
              </a:defRPr>
            </a:pPr>
            <a:r>
              <a:rPr sz="1050" b="0">
                <a:solidFill>
                  <a:srgbClr val="9BB7A7"/>
                </a:solidFill>
                <a:latin typeface="Helvetica Neue"/>
                <a:ea typeface="Helvetica Neue"/>
                <a:cs typeface="Helvetica Neue"/>
              </a:rPr>
              <a:t>Opaque task commitment binds engine, policy, family, fixtures, and deadline.</a:t>
            </a:r>
          </a:p>
        </p:txBody>
      </p:sp>
      <p:sp>
        <p:nvSpPr>
          <p:cNvPr id="11" name="">
            <a:extLst xmlns:a="http://schemas.openxmlformats.org/drawingml/2006/main">
              <a:ext uri="{FF2B5EF4-FFF2-40B4-BE49-F238E27FC236}">
                <a16:creationId xmlns:a16="http://schemas.microsoft.com/office/drawing/2014/main" id="{FF05690F-8D1F-4686-A243-6338FB80618C}"/>
              </a:ext>
            </a:extLst>
          </p:cNvPr>
          <p:cNvSpPr>
            <a:spLocks xmlns:a="http://schemas.openxmlformats.org/drawingml/2006/main" noGrp="1"/>
          </p:cNvSpPr>
          <p:nvPr/>
        </p:nvSpPr>
        <p:spPr>
          <a:xfrm xmlns:a="http://schemas.openxmlformats.org/drawingml/2006/main">
            <a:off x="4591050" y="3133725"/>
            <a:ext cx="609600" cy="0"/>
          </a:xfrm>
          <a:prstGeom xmlns:a="http://schemas.openxmlformats.org/drawingml/2006/main" prst="line">
            <a:avLst/>
          </a:prstGeom>
          <a:noFill xmlns:a="http://schemas.openxmlformats.org/drawingml/2006/main"/>
          <a:ln xmlns:a="http://schemas.openxmlformats.org/drawingml/2006/main" w="28575">
            <a:solidFill>
              <a:srgbClr val="31D66B"/>
            </a:solidFill>
          </a:ln>
        </p:spPr>
      </p:sp>
      <p:sp>
        <p:nvSpPr>
          <p:cNvPr id="12" name="">
            <a:extLst xmlns:a="http://schemas.openxmlformats.org/drawingml/2006/main">
              <a:ext uri="{FF2B5EF4-FFF2-40B4-BE49-F238E27FC236}">
                <a16:creationId xmlns:a16="http://schemas.microsoft.com/office/drawing/2014/main" id="{3587A64E-0082-4AA1-80DE-83C6A8687E45}"/>
              </a:ext>
            </a:extLst>
          </p:cNvPr>
          <p:cNvSpPr>
            <a:spLocks xmlns:a="http://schemas.openxmlformats.org/drawingml/2006/main" noGrp="1"/>
          </p:cNvSpPr>
          <p:nvPr/>
        </p:nvSpPr>
        <p:spPr>
          <a:xfrm xmlns:a="http://schemas.openxmlformats.org/drawingml/2006/main">
            <a:off x="2905125" y="24193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a:solidFill>
                  <a:srgbClr val="6BFF8B"/>
                </a:solidFill>
                <a:latin typeface="Helvetica Neue"/>
                <a:ea typeface="Helvetica Neue"/>
                <a:cs typeface="Helvetica Neue"/>
              </a:defRPr>
            </a:pPr>
            <a:r>
              <a:rPr sz="1050" b="1">
                <a:solidFill>
                  <a:srgbClr val="6BFF8B"/>
                </a:solidFill>
                <a:latin typeface="Helvetica Neue"/>
                <a:ea typeface="Helvetica Neue"/>
                <a:cs typeface="Helvetica Neue"/>
              </a:rPr>
              <a:t>02</a:t>
            </a:r>
          </a:p>
        </p:txBody>
      </p:sp>
      <p:sp>
        <p:nvSpPr>
          <p:cNvPr id="13" name="">
            <a:extLst xmlns:a="http://schemas.openxmlformats.org/drawingml/2006/main">
              <a:ext uri="{FF2B5EF4-FFF2-40B4-BE49-F238E27FC236}">
                <a16:creationId xmlns:a16="http://schemas.microsoft.com/office/drawing/2014/main" id="{D64DF650-86A8-4758-9DB6-55F9785F3681}"/>
              </a:ext>
            </a:extLst>
          </p:cNvPr>
          <p:cNvSpPr>
            <a:spLocks xmlns:a="http://schemas.openxmlformats.org/drawingml/2006/main" noGrp="1"/>
          </p:cNvSpPr>
          <p:nvPr/>
        </p:nvSpPr>
        <p:spPr>
          <a:xfrm xmlns:a="http://schemas.openxmlformats.org/drawingml/2006/main">
            <a:off x="2905125" y="2705100"/>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0FFF4"/>
                </a:solidFill>
                <a:latin typeface="Helvetica Neue"/>
                <a:ea typeface="Helvetica Neue"/>
                <a:cs typeface="Helvetica Neue"/>
              </a:defRPr>
            </a:pPr>
            <a:r>
              <a:rPr sz="1650" b="1">
                <a:solidFill>
                  <a:srgbClr val="F0FFF4"/>
                </a:solidFill>
                <a:latin typeface="Helvetica Neue"/>
                <a:ea typeface="Helvetica Neue"/>
                <a:cs typeface="Helvetica Neue"/>
              </a:rPr>
              <a:t>Compete</a:t>
            </a:r>
          </a:p>
        </p:txBody>
      </p:sp>
      <p:sp>
        <p:nvSpPr>
          <p:cNvPr id="14" name="">
            <a:extLst xmlns:a="http://schemas.openxmlformats.org/drawingml/2006/main">
              <a:ext uri="{FF2B5EF4-FFF2-40B4-BE49-F238E27FC236}">
                <a16:creationId xmlns:a16="http://schemas.microsoft.com/office/drawing/2014/main" id="{BD272CB3-4B3F-46C8-B1DE-6A03086173F0}"/>
              </a:ext>
            </a:extLst>
          </p:cNvPr>
          <p:cNvSpPr>
            <a:spLocks xmlns:a="http://schemas.openxmlformats.org/drawingml/2006/main" noGrp="1"/>
          </p:cNvSpPr>
          <p:nvPr/>
        </p:nvSpPr>
        <p:spPr>
          <a:xfrm xmlns:a="http://schemas.openxmlformats.org/drawingml/2006/main">
            <a:off x="2905125" y="3086100"/>
            <a:ext cx="171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0">
                <a:solidFill>
                  <a:srgbClr val="9BB7A7"/>
                </a:solidFill>
                <a:latin typeface="Helvetica Neue"/>
                <a:ea typeface="Helvetica Neue"/>
                <a:cs typeface="Helvetica Neue"/>
              </a:defRPr>
            </a:pPr>
            <a:r>
              <a:rPr sz="1050" b="0">
                <a:solidFill>
                  <a:srgbClr val="9BB7A7"/>
                </a:solidFill>
                <a:latin typeface="Helvetica Neue"/>
                <a:ea typeface="Helvetica Neue"/>
                <a:cs typeface="Helvetica Neue"/>
              </a:rPr>
              <a:t>Receiver-bound requests and miner-signed artifacts enter a sealed set.</a:t>
            </a:r>
          </a:p>
        </p:txBody>
      </p:sp>
      <p:sp>
        <p:nvSpPr>
          <p:cNvPr id="15" name="">
            <a:extLst xmlns:a="http://schemas.openxmlformats.org/drawingml/2006/main">
              <a:ext uri="{FF2B5EF4-FFF2-40B4-BE49-F238E27FC236}">
                <a16:creationId xmlns:a16="http://schemas.microsoft.com/office/drawing/2014/main" id="{73A61EBF-0098-4B57-866F-8CE812EAB541}"/>
              </a:ext>
            </a:extLst>
          </p:cNvPr>
          <p:cNvSpPr>
            <a:spLocks xmlns:a="http://schemas.openxmlformats.org/drawingml/2006/main" noGrp="1"/>
          </p:cNvSpPr>
          <p:nvPr/>
        </p:nvSpPr>
        <p:spPr>
          <a:xfrm xmlns:a="http://schemas.openxmlformats.org/drawingml/2006/main">
            <a:off x="6886575" y="3133725"/>
            <a:ext cx="609600" cy="0"/>
          </a:xfrm>
          <a:prstGeom xmlns:a="http://schemas.openxmlformats.org/drawingml/2006/main" prst="line">
            <a:avLst/>
          </a:prstGeom>
          <a:noFill xmlns:a="http://schemas.openxmlformats.org/drawingml/2006/main"/>
          <a:ln xmlns:a="http://schemas.openxmlformats.org/drawingml/2006/main" w="28575">
            <a:solidFill>
              <a:srgbClr val="31D66B"/>
            </a:solidFill>
          </a:ln>
        </p:spPr>
      </p:sp>
      <p:sp>
        <p:nvSpPr>
          <p:cNvPr id="16" name="">
            <a:extLst xmlns:a="http://schemas.openxmlformats.org/drawingml/2006/main">
              <a:ext uri="{FF2B5EF4-FFF2-40B4-BE49-F238E27FC236}">
                <a16:creationId xmlns:a16="http://schemas.microsoft.com/office/drawing/2014/main" id="{742B3CF4-C754-4BF2-A628-B9855445EA8F}"/>
              </a:ext>
            </a:extLst>
          </p:cNvPr>
          <p:cNvSpPr>
            <a:spLocks xmlns:a="http://schemas.openxmlformats.org/drawingml/2006/main" noGrp="1"/>
          </p:cNvSpPr>
          <p:nvPr/>
        </p:nvSpPr>
        <p:spPr>
          <a:xfrm xmlns:a="http://schemas.openxmlformats.org/drawingml/2006/main">
            <a:off x="5200650" y="24193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a:solidFill>
                  <a:srgbClr val="6BFF8B"/>
                </a:solidFill>
                <a:latin typeface="Helvetica Neue"/>
                <a:ea typeface="Helvetica Neue"/>
                <a:cs typeface="Helvetica Neue"/>
              </a:defRPr>
            </a:pPr>
            <a:r>
              <a:rPr sz="1050" b="1">
                <a:solidFill>
                  <a:srgbClr val="6BFF8B"/>
                </a:solidFill>
                <a:latin typeface="Helvetica Neue"/>
                <a:ea typeface="Helvetica Neue"/>
                <a:cs typeface="Helvetica Neue"/>
              </a:rPr>
              <a:t>03</a:t>
            </a:r>
          </a:p>
        </p:txBody>
      </p:sp>
      <p:sp>
        <p:nvSpPr>
          <p:cNvPr id="17" name="">
            <a:extLst xmlns:a="http://schemas.openxmlformats.org/drawingml/2006/main">
              <a:ext uri="{FF2B5EF4-FFF2-40B4-BE49-F238E27FC236}">
                <a16:creationId xmlns:a16="http://schemas.microsoft.com/office/drawing/2014/main" id="{55BD0D76-86D1-4F71-BBE4-3041786F86AE}"/>
              </a:ext>
            </a:extLst>
          </p:cNvPr>
          <p:cNvSpPr>
            <a:spLocks xmlns:a="http://schemas.openxmlformats.org/drawingml/2006/main" noGrp="1"/>
          </p:cNvSpPr>
          <p:nvPr/>
        </p:nvSpPr>
        <p:spPr>
          <a:xfrm xmlns:a="http://schemas.openxmlformats.org/drawingml/2006/main">
            <a:off x="5200650" y="2705100"/>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0FFF4"/>
                </a:solidFill>
                <a:latin typeface="Helvetica Neue"/>
                <a:ea typeface="Helvetica Neue"/>
                <a:cs typeface="Helvetica Neue"/>
              </a:defRPr>
            </a:pPr>
            <a:r>
              <a:rPr sz="1650" b="1">
                <a:solidFill>
                  <a:srgbClr val="F0FFF4"/>
                </a:solidFill>
                <a:latin typeface="Helvetica Neue"/>
                <a:ea typeface="Helvetica Neue"/>
                <a:cs typeface="Helvetica Neue"/>
              </a:rPr>
              <a:t>Reveal</a:t>
            </a:r>
          </a:p>
        </p:txBody>
      </p:sp>
      <p:sp>
        <p:nvSpPr>
          <p:cNvPr id="18" name="">
            <a:extLst xmlns:a="http://schemas.openxmlformats.org/drawingml/2006/main">
              <a:ext uri="{FF2B5EF4-FFF2-40B4-BE49-F238E27FC236}">
                <a16:creationId xmlns:a16="http://schemas.microsoft.com/office/drawing/2014/main" id="{6D98F761-E99E-4DEC-AD7B-53B795E36442}"/>
              </a:ext>
            </a:extLst>
          </p:cNvPr>
          <p:cNvSpPr>
            <a:spLocks xmlns:a="http://schemas.openxmlformats.org/drawingml/2006/main" noGrp="1"/>
          </p:cNvSpPr>
          <p:nvPr/>
        </p:nvSpPr>
        <p:spPr>
          <a:xfrm xmlns:a="http://schemas.openxmlformats.org/drawingml/2006/main">
            <a:off x="5200650" y="3086100"/>
            <a:ext cx="171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0">
                <a:solidFill>
                  <a:srgbClr val="9BB7A7"/>
                </a:solidFill>
                <a:latin typeface="Helvetica Neue"/>
                <a:ea typeface="Helvetica Neue"/>
                <a:cs typeface="Helvetica Neue"/>
              </a:defRPr>
            </a:pPr>
            <a:r>
              <a:rPr sz="1050" b="0">
                <a:solidFill>
                  <a:srgbClr val="9BB7A7"/>
                </a:solidFill>
                <a:latin typeface="Helvetica Neue"/>
                <a:ea typeface="Helvetica Neue"/>
                <a:cs typeface="Helvetica Neue"/>
              </a:rPr>
              <a:t>The validator reveals the CSPRNG seed only after submissions close.</a:t>
            </a:r>
          </a:p>
        </p:txBody>
      </p:sp>
      <p:sp>
        <p:nvSpPr>
          <p:cNvPr id="19" name="">
            <a:extLst xmlns:a="http://schemas.openxmlformats.org/drawingml/2006/main">
              <a:ext uri="{FF2B5EF4-FFF2-40B4-BE49-F238E27FC236}">
                <a16:creationId xmlns:a16="http://schemas.microsoft.com/office/drawing/2014/main" id="{03A09B3E-2705-4149-BD91-ABDCB4849DCE}"/>
              </a:ext>
            </a:extLst>
          </p:cNvPr>
          <p:cNvSpPr>
            <a:spLocks xmlns:a="http://schemas.openxmlformats.org/drawingml/2006/main" noGrp="1"/>
          </p:cNvSpPr>
          <p:nvPr/>
        </p:nvSpPr>
        <p:spPr>
          <a:xfrm xmlns:a="http://schemas.openxmlformats.org/drawingml/2006/main">
            <a:off x="9182100" y="3133725"/>
            <a:ext cx="609600" cy="0"/>
          </a:xfrm>
          <a:prstGeom xmlns:a="http://schemas.openxmlformats.org/drawingml/2006/main" prst="line">
            <a:avLst/>
          </a:prstGeom>
          <a:noFill xmlns:a="http://schemas.openxmlformats.org/drawingml/2006/main"/>
          <a:ln xmlns:a="http://schemas.openxmlformats.org/drawingml/2006/main" w="28575">
            <a:solidFill>
              <a:srgbClr val="31D66B"/>
            </a:solidFill>
          </a:ln>
        </p:spPr>
      </p:sp>
      <p:sp>
        <p:nvSpPr>
          <p:cNvPr id="20" name="">
            <a:extLst xmlns:a="http://schemas.openxmlformats.org/drawingml/2006/main">
              <a:ext uri="{FF2B5EF4-FFF2-40B4-BE49-F238E27FC236}">
                <a16:creationId xmlns:a16="http://schemas.microsoft.com/office/drawing/2014/main" id="{44BC39FE-25D3-42AD-BF93-D15313D92DEB}"/>
              </a:ext>
            </a:extLst>
          </p:cNvPr>
          <p:cNvSpPr>
            <a:spLocks xmlns:a="http://schemas.openxmlformats.org/drawingml/2006/main" noGrp="1"/>
          </p:cNvSpPr>
          <p:nvPr/>
        </p:nvSpPr>
        <p:spPr>
          <a:xfrm xmlns:a="http://schemas.openxmlformats.org/drawingml/2006/main">
            <a:off x="7496175" y="24193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a:solidFill>
                  <a:srgbClr val="6BFF8B"/>
                </a:solidFill>
                <a:latin typeface="Helvetica Neue"/>
                <a:ea typeface="Helvetica Neue"/>
                <a:cs typeface="Helvetica Neue"/>
              </a:defRPr>
            </a:pPr>
            <a:r>
              <a:rPr sz="1050" b="1">
                <a:solidFill>
                  <a:srgbClr val="6BFF8B"/>
                </a:solidFill>
                <a:latin typeface="Helvetica Neue"/>
                <a:ea typeface="Helvetica Neue"/>
                <a:cs typeface="Helvetica Neue"/>
              </a:rPr>
              <a:t>04</a:t>
            </a:r>
          </a:p>
        </p:txBody>
      </p:sp>
      <p:sp>
        <p:nvSpPr>
          <p:cNvPr id="21" name="">
            <a:extLst xmlns:a="http://schemas.openxmlformats.org/drawingml/2006/main">
              <a:ext uri="{FF2B5EF4-FFF2-40B4-BE49-F238E27FC236}">
                <a16:creationId xmlns:a16="http://schemas.microsoft.com/office/drawing/2014/main" id="{33CBD7CA-24CE-44B9-99D9-937639317563}"/>
              </a:ext>
            </a:extLst>
          </p:cNvPr>
          <p:cNvSpPr>
            <a:spLocks xmlns:a="http://schemas.openxmlformats.org/drawingml/2006/main" noGrp="1"/>
          </p:cNvSpPr>
          <p:nvPr/>
        </p:nvSpPr>
        <p:spPr>
          <a:xfrm xmlns:a="http://schemas.openxmlformats.org/drawingml/2006/main">
            <a:off x="7496175" y="2705100"/>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0FFF4"/>
                </a:solidFill>
                <a:latin typeface="Helvetica Neue"/>
                <a:ea typeface="Helvetica Neue"/>
                <a:cs typeface="Helvetica Neue"/>
              </a:defRPr>
            </a:pPr>
            <a:r>
              <a:rPr sz="1650" b="1">
                <a:solidFill>
                  <a:srgbClr val="F0FFF4"/>
                </a:solidFill>
                <a:latin typeface="Helvetica Neue"/>
                <a:ea typeface="Helvetica Neue"/>
                <a:cs typeface="Helvetica Neue"/>
              </a:rPr>
              <a:t>Verify</a:t>
            </a:r>
          </a:p>
        </p:txBody>
      </p:sp>
      <p:sp>
        <p:nvSpPr>
          <p:cNvPr id="22" name="">
            <a:extLst xmlns:a="http://schemas.openxmlformats.org/drawingml/2006/main">
              <a:ext uri="{FF2B5EF4-FFF2-40B4-BE49-F238E27FC236}">
                <a16:creationId xmlns:a16="http://schemas.microsoft.com/office/drawing/2014/main" id="{898D9FB3-8A07-40A1-8C0C-CA8150C8AFE9}"/>
              </a:ext>
            </a:extLst>
          </p:cNvPr>
          <p:cNvSpPr>
            <a:spLocks xmlns:a="http://schemas.openxmlformats.org/drawingml/2006/main" noGrp="1"/>
          </p:cNvSpPr>
          <p:nvPr/>
        </p:nvSpPr>
        <p:spPr>
          <a:xfrm xmlns:a="http://schemas.openxmlformats.org/drawingml/2006/main">
            <a:off x="7496175" y="3086100"/>
            <a:ext cx="171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0">
                <a:solidFill>
                  <a:srgbClr val="9BB7A7"/>
                </a:solidFill>
                <a:latin typeface="Helvetica Neue"/>
                <a:ea typeface="Helvetica Neue"/>
                <a:cs typeface="Helvetica Neue"/>
              </a:defRPr>
            </a:pPr>
            <a:r>
              <a:rPr sz="1050" b="0">
                <a:solidFill>
                  <a:srgbClr val="9BB7A7"/>
                </a:solidFill>
                <a:latin typeface="Helvetica Neue"/>
                <a:ea typeface="Helvetica Neue"/>
                <a:cs typeface="Helvetica Neue"/>
              </a:rPr>
              <a:t>Disposable workers enforce exactness, budgets, and measured baselines.</a:t>
            </a:r>
          </a:p>
        </p:txBody>
      </p:sp>
      <p:sp>
        <p:nvSpPr>
          <p:cNvPr id="23" name="">
            <a:extLst xmlns:a="http://schemas.openxmlformats.org/drawingml/2006/main">
              <a:ext uri="{FF2B5EF4-FFF2-40B4-BE49-F238E27FC236}">
                <a16:creationId xmlns:a16="http://schemas.microsoft.com/office/drawing/2014/main" id="{D09C8B73-89E9-4471-BB18-C6703671E786}"/>
              </a:ext>
            </a:extLst>
          </p:cNvPr>
          <p:cNvSpPr>
            <a:spLocks xmlns:a="http://schemas.openxmlformats.org/drawingml/2006/main" noGrp="1"/>
          </p:cNvSpPr>
          <p:nvPr/>
        </p:nvSpPr>
        <p:spPr>
          <a:xfrm xmlns:a="http://schemas.openxmlformats.org/drawingml/2006/main">
            <a:off x="9791700" y="24193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a:solidFill>
                  <a:srgbClr val="6BFF8B"/>
                </a:solidFill>
                <a:latin typeface="Helvetica Neue"/>
                <a:ea typeface="Helvetica Neue"/>
                <a:cs typeface="Helvetica Neue"/>
              </a:defRPr>
            </a:pPr>
            <a:r>
              <a:rPr sz="1050" b="1">
                <a:solidFill>
                  <a:srgbClr val="6BFF8B"/>
                </a:solidFill>
                <a:latin typeface="Helvetica Neue"/>
                <a:ea typeface="Helvetica Neue"/>
                <a:cs typeface="Helvetica Neue"/>
              </a:rPr>
              <a:t>05</a:t>
            </a:r>
          </a:p>
        </p:txBody>
      </p:sp>
      <p:sp>
        <p:nvSpPr>
          <p:cNvPr id="24" name="">
            <a:extLst xmlns:a="http://schemas.openxmlformats.org/drawingml/2006/main">
              <a:ext uri="{FF2B5EF4-FFF2-40B4-BE49-F238E27FC236}">
                <a16:creationId xmlns:a16="http://schemas.microsoft.com/office/drawing/2014/main" id="{3207D46C-F09B-4009-AFC2-F57F8034E5CB}"/>
              </a:ext>
            </a:extLst>
          </p:cNvPr>
          <p:cNvSpPr>
            <a:spLocks xmlns:a="http://schemas.openxmlformats.org/drawingml/2006/main" noGrp="1"/>
          </p:cNvSpPr>
          <p:nvPr/>
        </p:nvSpPr>
        <p:spPr>
          <a:xfrm xmlns:a="http://schemas.openxmlformats.org/drawingml/2006/main">
            <a:off x="9791700" y="2705100"/>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0FFF4"/>
                </a:solidFill>
                <a:latin typeface="Helvetica Neue"/>
                <a:ea typeface="Helvetica Neue"/>
                <a:cs typeface="Helvetica Neue"/>
              </a:defRPr>
            </a:pPr>
            <a:r>
              <a:rPr sz="1650" b="1">
                <a:solidFill>
                  <a:srgbClr val="F0FFF4"/>
                </a:solidFill>
                <a:latin typeface="Helvetica Neue"/>
                <a:ea typeface="Helvetica Neue"/>
                <a:cs typeface="Helvetica Neue"/>
              </a:rPr>
              <a:t>Reward</a:t>
            </a:r>
          </a:p>
        </p:txBody>
      </p:sp>
      <p:sp>
        <p:nvSpPr>
          <p:cNvPr id="25" name="">
            <a:extLst xmlns:a="http://schemas.openxmlformats.org/drawingml/2006/main">
              <a:ext uri="{FF2B5EF4-FFF2-40B4-BE49-F238E27FC236}">
                <a16:creationId xmlns:a16="http://schemas.microsoft.com/office/drawing/2014/main" id="{31412451-3B5C-41F9-9CE8-68537B70B618}"/>
              </a:ext>
            </a:extLst>
          </p:cNvPr>
          <p:cNvSpPr>
            <a:spLocks xmlns:a="http://schemas.openxmlformats.org/drawingml/2006/main" noGrp="1"/>
          </p:cNvSpPr>
          <p:nvPr/>
        </p:nvSpPr>
        <p:spPr>
          <a:xfrm xmlns:a="http://schemas.openxmlformats.org/drawingml/2006/main">
            <a:off x="9791700" y="3086100"/>
            <a:ext cx="171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0">
                <a:solidFill>
                  <a:srgbClr val="9BB7A7"/>
                </a:solidFill>
                <a:latin typeface="Helvetica Neue"/>
                <a:ea typeface="Helvetica Neue"/>
                <a:cs typeface="Helvetica Neue"/>
              </a:defRPr>
            </a:pPr>
            <a:r>
              <a:rPr sz="1050" b="0">
                <a:solidFill>
                  <a:srgbClr val="9BB7A7"/>
                </a:solidFill>
                <a:latin typeface="Helvetica Neue"/>
                <a:ea typeface="Helvetica Neue"/>
                <a:cs typeface="Helvetica Neue"/>
              </a:rPr>
              <a:t>Conservative multi-epoch rewards become capped Bittensor weights.</a:t>
            </a:r>
          </a:p>
        </p:txBody>
      </p:sp>
      <p:sp>
        <p:nvSpPr>
          <p:cNvPr id="26" name="">
            <a:extLst xmlns:a="http://schemas.openxmlformats.org/drawingml/2006/main">
              <a:ext uri="{FF2B5EF4-FFF2-40B4-BE49-F238E27FC236}">
                <a16:creationId xmlns:a16="http://schemas.microsoft.com/office/drawing/2014/main" id="{0BB40055-FEA3-4ABA-82F2-598E80DBDF2C}"/>
              </a:ext>
            </a:extLst>
          </p:cNvPr>
          <p:cNvSpPr>
            <a:spLocks xmlns:a="http://schemas.openxmlformats.org/drawingml/2006/main" noGrp="1"/>
          </p:cNvSpPr>
          <p:nvPr/>
        </p:nvSpPr>
        <p:spPr>
          <a:xfrm xmlns:a="http://schemas.openxmlformats.org/drawingml/2006/main">
            <a:off x="4591050" y="462915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4D35E"/>
                </a:solidFill>
                <a:latin typeface="Helvetica Neue"/>
                <a:ea typeface="Helvetica Neue"/>
                <a:cs typeface="Helvetica Neue"/>
              </a:defRPr>
            </a:pPr>
            <a:r>
              <a:rPr sz="1050" b="1">
                <a:solidFill>
                  <a:srgbClr val="F4D35E"/>
                </a:solidFill>
                <a:latin typeface="Helvetica Neue"/>
                <a:ea typeface="Helvetica Neue"/>
                <a:cs typeface="Helvetica Neue"/>
              </a:rPr>
              <a:t>Deadline</a:t>
            </a:r>
          </a:p>
        </p:txBody>
      </p:sp>
      <p:sp>
        <p:nvSpPr>
          <p:cNvPr id="27" name="">
            <a:extLst xmlns:a="http://schemas.openxmlformats.org/drawingml/2006/main">
              <a:ext uri="{FF2B5EF4-FFF2-40B4-BE49-F238E27FC236}">
                <a16:creationId xmlns:a16="http://schemas.microsoft.com/office/drawing/2014/main" id="{9B25E1F4-BC29-4374-AD9E-84B31F86AAA2}"/>
              </a:ext>
            </a:extLst>
          </p:cNvPr>
          <p:cNvSpPr>
            <a:spLocks xmlns:a="http://schemas.openxmlformats.org/drawingml/2006/main" noGrp="1"/>
          </p:cNvSpPr>
          <p:nvPr/>
        </p:nvSpPr>
        <p:spPr>
          <a:xfrm xmlns:a="http://schemas.openxmlformats.org/drawingml/2006/main">
            <a:off x="5743575" y="4114800"/>
            <a:ext cx="0" cy="1066800"/>
          </a:xfrm>
          <a:prstGeom xmlns:a="http://schemas.openxmlformats.org/drawingml/2006/main" prst="line">
            <a:avLst/>
          </a:prstGeom>
          <a:noFill xmlns:a="http://schemas.openxmlformats.org/drawingml/2006/main"/>
          <a:ln xmlns:a="http://schemas.openxmlformats.org/drawingml/2006/main" w="19050">
            <a:solidFill>
              <a:srgbClr val="F4D35E"/>
            </a:solidFill>
          </a:ln>
        </p:spPr>
      </p:sp>
      <p:sp>
        <p:nvSpPr>
          <p:cNvPr id="28" name="">
            <a:extLst xmlns:a="http://schemas.openxmlformats.org/drawingml/2006/main">
              <a:ext uri="{FF2B5EF4-FFF2-40B4-BE49-F238E27FC236}">
                <a16:creationId xmlns:a16="http://schemas.microsoft.com/office/drawing/2014/main" id="{51BD56DE-338F-4B6A-A225-0C7D8C6146B9}"/>
              </a:ext>
            </a:extLst>
          </p:cNvPr>
          <p:cNvSpPr>
            <a:spLocks xmlns:a="http://schemas.openxmlformats.org/drawingml/2006/main" noGrp="1"/>
          </p:cNvSpPr>
          <p:nvPr/>
        </p:nvSpPr>
        <p:spPr>
          <a:xfrm xmlns:a="http://schemas.openxmlformats.org/drawingml/2006/main">
            <a:off x="1409700" y="525780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0">
                <a:solidFill>
                  <a:srgbClr val="9BB7A7"/>
                </a:solidFill>
                <a:latin typeface="Helvetica Neue"/>
                <a:ea typeface="Helvetica Neue"/>
                <a:cs typeface="Helvetica Neue"/>
              </a:defRPr>
            </a:pPr>
            <a:r>
              <a:rPr sz="1200" b="0">
                <a:solidFill>
                  <a:srgbClr val="9BB7A7"/>
                </a:solidFill>
                <a:latin typeface="Helvetica Neue"/>
                <a:ea typeface="Helvetica Neue"/>
                <a:cs typeface="Helvetica Neue"/>
              </a:rPr>
              <a:t>public challenge</a:t>
            </a:r>
          </a:p>
        </p:txBody>
      </p:sp>
      <p:sp>
        <p:nvSpPr>
          <p:cNvPr id="29" name="">
            <a:extLst xmlns:a="http://schemas.openxmlformats.org/drawingml/2006/main">
              <a:ext uri="{FF2B5EF4-FFF2-40B4-BE49-F238E27FC236}">
                <a16:creationId xmlns:a16="http://schemas.microsoft.com/office/drawing/2014/main" id="{44A7C90E-AD0D-4367-9341-3166A95D258B}"/>
              </a:ext>
            </a:extLst>
          </p:cNvPr>
          <p:cNvSpPr>
            <a:spLocks xmlns:a="http://schemas.openxmlformats.org/drawingml/2006/main" noGrp="1"/>
          </p:cNvSpPr>
          <p:nvPr/>
        </p:nvSpPr>
        <p:spPr>
          <a:xfrm xmlns:a="http://schemas.openxmlformats.org/drawingml/2006/main">
            <a:off x="7086600" y="525780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0">
                <a:solidFill>
                  <a:srgbClr val="9BB7A7"/>
                </a:solidFill>
                <a:latin typeface="Helvetica Neue"/>
                <a:ea typeface="Helvetica Neue"/>
                <a:cs typeface="Helvetica Neue"/>
              </a:defRPr>
            </a:pPr>
            <a:r>
              <a:rPr sz="1200" b="0">
                <a:solidFill>
                  <a:srgbClr val="9BB7A7"/>
                </a:solidFill>
                <a:latin typeface="Helvetica Neue"/>
                <a:ea typeface="Helvetica Neue"/>
                <a:cs typeface="Helvetica Neue"/>
              </a:rPr>
              <a:t>private holdout becomes auditable</a:t>
            </a:r>
          </a:p>
        </p:txBody>
      </p:sp>
    </p:spTree>
    <p:extLst>
      <p:ext uri="{BB962C8B-B14F-4D97-AF65-F5344CB8AC3E}">
        <p14:creationId xmlns:p14="http://schemas.microsoft.com/office/powerpoint/2010/main" val="344453447"/>
      </p:ext>
    </p:extLst>
  </p:cSld>
</p:sld>
</file>

<file path=ppt/slides/slide5.xml><?xml version="1.0" encoding="utf-8"?>
<p:sld xmlns:p="http://schemas.openxmlformats.org/presentationml/2006/main">
  <p:cSld>
    <p:bg>
      <p:bgPr>
        <a:solidFill xmlns:a="http://schemas.openxmlformats.org/drawingml/2006/main">
          <a:srgbClr val="03110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6FE6DB2-3EA3-4545-A2B7-32B549479F93}"/>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1">
                <a:solidFill>
                  <a:srgbClr val="6BFF8B"/>
                </a:solidFill>
                <a:latin typeface="Helvetica Neue"/>
                <a:ea typeface="Helvetica Neue"/>
                <a:cs typeface="Helvetica Neue"/>
              </a:defRPr>
            </a:pPr>
            <a:r>
              <a:rPr sz="900" b="1">
                <a:solidFill>
                  <a:srgbClr val="6BFF8B"/>
                </a:solidFill>
                <a:latin typeface="Helvetica Neue"/>
                <a:ea typeface="Helvetica Neue"/>
                <a:cs typeface="Helvetica Neue"/>
              </a:rPr>
              <a:t>EVALUATION</a:t>
            </a:r>
          </a:p>
        </p:txBody>
      </p:sp>
      <p:sp>
        <p:nvSpPr>
          <p:cNvPr id="2" name="">
            <a:extLst xmlns:a="http://schemas.openxmlformats.org/drawingml/2006/main">
              <a:ext uri="{FF2B5EF4-FFF2-40B4-BE49-F238E27FC236}">
                <a16:creationId xmlns:a16="http://schemas.microsoft.com/office/drawing/2014/main" id="{95C8DC51-18B4-4B69-AE74-75F86EE0117E}"/>
              </a:ext>
            </a:extLst>
          </p:cNvPr>
          <p:cNvSpPr>
            <a:spLocks xmlns:a="http://schemas.openxmlformats.org/drawingml/2006/main" noGrp="1"/>
          </p:cNvSpPr>
          <p:nvPr/>
        </p:nvSpPr>
        <p:spPr>
          <a:xfrm xmlns:a="http://schemas.openxmlformats.org/drawingml/2006/main">
            <a:off x="11239500" y="266700"/>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00" b="0">
                <a:solidFill>
                  <a:srgbClr val="9BB7A7"/>
                </a:solidFill>
                <a:latin typeface="Helvetica Neue"/>
                <a:ea typeface="Helvetica Neue"/>
                <a:cs typeface="Helvetica Neue"/>
              </a:defRPr>
            </a:pPr>
            <a:r>
              <a:rPr sz="900" b="0">
                <a:solidFill>
                  <a:srgbClr val="9BB7A7"/>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DC787272-A0A3-4101-821A-88ED39A2AB41}"/>
              </a:ext>
            </a:extLst>
          </p:cNvPr>
          <p:cNvSpPr>
            <a:spLocks xmlns:a="http://schemas.openxmlformats.org/drawingml/2006/main" noGrp="1"/>
          </p:cNvSpPr>
          <p:nvPr/>
        </p:nvSpPr>
        <p:spPr>
          <a:xfrm xmlns:a="http://schemas.openxmlformats.org/drawingml/2006/main">
            <a:off x="609600" y="6534150"/>
            <a:ext cx="10972800" cy="0"/>
          </a:xfrm>
          <a:prstGeom xmlns:a="http://schemas.openxmlformats.org/drawingml/2006/main" prst="line">
            <a:avLst/>
          </a:prstGeom>
          <a:noFill xmlns:a="http://schemas.openxmlformats.org/drawingml/2006/main"/>
          <a:ln xmlns:a="http://schemas.openxmlformats.org/drawingml/2006/main" w="9525">
            <a:solidFill>
              <a:srgbClr val="1F5138"/>
            </a:solidFill>
          </a:ln>
        </p:spPr>
      </p:sp>
      <p:sp>
        <p:nvSpPr>
          <p:cNvPr id="4" name="">
            <a:extLst xmlns:a="http://schemas.openxmlformats.org/drawingml/2006/main">
              <a:ext uri="{FF2B5EF4-FFF2-40B4-BE49-F238E27FC236}">
                <a16:creationId xmlns:a16="http://schemas.microsoft.com/office/drawing/2014/main" id="{06EB20A8-DE52-4238-AA7A-7898664EEB8C}"/>
              </a:ext>
            </a:extLst>
          </p:cNvPr>
          <p:cNvSpPr>
            <a:spLocks xmlns:a="http://schemas.openxmlformats.org/drawingml/2006/main" noGrp="1"/>
          </p:cNvSpPr>
          <p:nvPr/>
        </p:nvSpPr>
        <p:spPr>
          <a:xfrm xmlns:a="http://schemas.openxmlformats.org/drawingml/2006/main">
            <a:off x="609600" y="657225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675" b="0">
                <a:solidFill>
                  <a:srgbClr val="9BB7A7"/>
                </a:solidFill>
                <a:latin typeface="Helvetica Neue"/>
                <a:ea typeface="Helvetica Neue"/>
                <a:cs typeface="Helvetica Neue"/>
              </a:defRPr>
            </a:pPr>
            <a:r>
              <a:rPr sz="675" b="0">
                <a:solidFill>
                  <a:srgbClr val="9BB7A7"/>
                </a:solidFill>
                <a:latin typeface="Helvetica Neue"/>
                <a:ea typeface="Helvetica Neue"/>
                <a:cs typeface="Helvetica Neue"/>
              </a:rPr>
              <a:t>PlanRace · Bittensor Global Subnet Hackathon · Checkpoint draft</a:t>
            </a:r>
          </a:p>
        </p:txBody>
      </p:sp>
      <p:sp>
        <p:nvSpPr>
          <p:cNvPr id="5" name="">
            <a:extLst xmlns:a="http://schemas.openxmlformats.org/drawingml/2006/main">
              <a:ext uri="{FF2B5EF4-FFF2-40B4-BE49-F238E27FC236}">
                <a16:creationId xmlns:a16="http://schemas.microsoft.com/office/drawing/2014/main" id="{B0969A57-2FD1-429C-A5A8-60BF07400594}"/>
              </a:ext>
            </a:extLst>
          </p:cNvPr>
          <p:cNvSpPr>
            <a:spLocks xmlns:a="http://schemas.openxmlformats.org/drawingml/2006/main" noGrp="1"/>
          </p:cNvSpPr>
          <p:nvPr/>
        </p:nvSpPr>
        <p:spPr>
          <a:xfrm xmlns:a="http://schemas.openxmlformats.org/drawingml/2006/main">
            <a:off x="609600" y="60960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F0FFF4"/>
                </a:solidFill>
                <a:latin typeface="Helvetica Neue"/>
                <a:ea typeface="Helvetica Neue"/>
                <a:cs typeface="Helvetica Neue"/>
              </a:defRPr>
            </a:pPr>
            <a:r>
              <a:rPr sz="2700" b="1">
                <a:solidFill>
                  <a:srgbClr val="F0FFF4"/>
                </a:solidFill>
                <a:latin typeface="Helvetica Neue"/>
                <a:ea typeface="Helvetica Neue"/>
                <a:cs typeface="Helvetica Neue"/>
              </a:rPr>
              <a:t> Correctness precedes performance</a:t>
            </a:r>
          </a:p>
        </p:txBody>
      </p:sp>
      <p:sp>
        <p:nvSpPr>
          <p:cNvPr id="6" name="">
            <a:extLst xmlns:a="http://schemas.openxmlformats.org/drawingml/2006/main">
              <a:ext uri="{FF2B5EF4-FFF2-40B4-BE49-F238E27FC236}">
                <a16:creationId xmlns:a16="http://schemas.microsoft.com/office/drawing/2014/main" id="{687E300E-97AA-4596-A5EC-D79F21A6F496}"/>
              </a:ext>
            </a:extLst>
          </p:cNvPr>
          <p:cNvSpPr>
            <a:spLocks xmlns:a="http://schemas.openxmlformats.org/drawingml/2006/main" noGrp="1"/>
          </p:cNvSpPr>
          <p:nvPr/>
        </p:nvSpPr>
        <p:spPr>
          <a:xfrm xmlns:a="http://schemas.openxmlformats.org/drawingml/2006/main">
            <a:off x="609600" y="120015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9BB7A7"/>
                </a:solidFill>
                <a:latin typeface="Helvetica Neue"/>
                <a:ea typeface="Helvetica Neue"/>
                <a:cs typeface="Helvetica Neue"/>
              </a:defRPr>
            </a:pPr>
            <a:r>
              <a:rPr sz="1350" b="0">
                <a:solidFill>
                  <a:srgbClr val="9BB7A7"/>
                </a:solidFill>
                <a:latin typeface="Helvetica Neue"/>
                <a:ea typeface="Helvetica Neue"/>
                <a:cs typeface="Helvetica Neue"/>
              </a:rPr>
              <a:t> A fast wrong answer, a malformed artifact, or an abusive worker receives zero.</a:t>
            </a:r>
          </a:p>
        </p:txBody>
      </p:sp>
      <p:sp>
        <p:nvSpPr>
          <p:cNvPr id="7" name="">
            <a:extLst xmlns:a="http://schemas.openxmlformats.org/drawingml/2006/main">
              <a:ext uri="{FF2B5EF4-FFF2-40B4-BE49-F238E27FC236}">
                <a16:creationId xmlns:a16="http://schemas.microsoft.com/office/drawing/2014/main" id="{E3612BBA-65AC-47CD-96C9-A9893827B821}"/>
              </a:ext>
            </a:extLst>
          </p:cNvPr>
          <p:cNvSpPr>
            <a:spLocks xmlns:a="http://schemas.openxmlformats.org/drawingml/2006/main" noGrp="1"/>
          </p:cNvSpPr>
          <p:nvPr/>
        </p:nvSpPr>
        <p:spPr>
          <a:xfrm xmlns:a="http://schemas.openxmlformats.org/drawingml/2006/main">
            <a:off x="666750" y="209550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6BFF8B"/>
                </a:solidFill>
                <a:latin typeface="Helvetica Neue"/>
                <a:ea typeface="Helvetica Neue"/>
                <a:cs typeface="Helvetica Neue"/>
              </a:defRPr>
            </a:pPr>
            <a:r>
              <a:rPr sz="975" b="1">
                <a:solidFill>
                  <a:srgbClr val="6BFF8B"/>
                </a:solidFill>
                <a:latin typeface="Helvetica Neue"/>
                <a:ea typeface="Helvetica Neue"/>
                <a:cs typeface="Helvetica Neue"/>
              </a:rPr>
              <a:t>GATE 1</a:t>
            </a:r>
          </a:p>
        </p:txBody>
      </p:sp>
      <p:sp>
        <p:nvSpPr>
          <p:cNvPr id="8" name="">
            <a:extLst xmlns:a="http://schemas.openxmlformats.org/drawingml/2006/main">
              <a:ext uri="{FF2B5EF4-FFF2-40B4-BE49-F238E27FC236}">
                <a16:creationId xmlns:a16="http://schemas.microsoft.com/office/drawing/2014/main" id="{7B9ED11F-1887-447D-BA40-EB11FD49266B}"/>
              </a:ext>
            </a:extLst>
          </p:cNvPr>
          <p:cNvSpPr>
            <a:spLocks xmlns:a="http://schemas.openxmlformats.org/drawingml/2006/main" noGrp="1"/>
          </p:cNvSpPr>
          <p:nvPr/>
        </p:nvSpPr>
        <p:spPr>
          <a:xfrm xmlns:a="http://schemas.openxmlformats.org/drawingml/2006/main">
            <a:off x="666750" y="2381250"/>
            <a:ext cx="4191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1">
                <a:solidFill>
                  <a:srgbClr val="F0FFF4"/>
                </a:solidFill>
                <a:latin typeface="Helvetica Neue"/>
                <a:ea typeface="Helvetica Neue"/>
                <a:cs typeface="Helvetica Neue"/>
              </a:defRPr>
            </a:pPr>
            <a:r>
              <a:rPr sz="2400" b="1">
                <a:solidFill>
                  <a:srgbClr val="F0FFF4"/>
                </a:solidFill>
                <a:latin typeface="Helvetica Neue"/>
                <a:ea typeface="Helvetica Neue"/>
                <a:cs typeface="Helvetica Neue"/>
              </a:rPr>
              <a:t>Canonical exact result</a:t>
            </a:r>
          </a:p>
        </p:txBody>
      </p:sp>
      <p:sp>
        <p:nvSpPr>
          <p:cNvPr id="9" name="">
            <a:extLst xmlns:a="http://schemas.openxmlformats.org/drawingml/2006/main">
              <a:ext uri="{FF2B5EF4-FFF2-40B4-BE49-F238E27FC236}">
                <a16:creationId xmlns:a16="http://schemas.microsoft.com/office/drawing/2014/main" id="{7596611B-59CF-4C7F-A3B8-B774D714F236}"/>
              </a:ext>
            </a:extLst>
          </p:cNvPr>
          <p:cNvSpPr>
            <a:spLocks xmlns:a="http://schemas.openxmlformats.org/drawingml/2006/main" noGrp="1"/>
          </p:cNvSpPr>
          <p:nvPr/>
        </p:nvSpPr>
        <p:spPr>
          <a:xfrm xmlns:a="http://schemas.openxmlformats.org/drawingml/2006/main">
            <a:off x="666750" y="2914650"/>
            <a:ext cx="447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9BB7A7"/>
                </a:solidFill>
                <a:latin typeface="Helvetica Neue"/>
                <a:ea typeface="Helvetica Neue"/>
                <a:cs typeface="Helvetica Neue"/>
              </a:defRPr>
            </a:pPr>
            <a:r>
              <a:rPr sz="1275" b="0">
                <a:solidFill>
                  <a:srgbClr val="9BB7A7"/>
                </a:solidFill>
                <a:latin typeface="Helvetica Neue"/>
                <a:ea typeface="Helvetica Neue"/>
                <a:cs typeface="Helvetica Neue"/>
              </a:rPr>
              <a:t>NULL, numeric, text, bytes, duplicate-row and ordered semantics</a:t>
            </a:r>
          </a:p>
        </p:txBody>
      </p:sp>
      <p:sp>
        <p:nvSpPr>
          <p:cNvPr id="10" name="">
            <a:extLst xmlns:a="http://schemas.openxmlformats.org/drawingml/2006/main">
              <a:ext uri="{FF2B5EF4-FFF2-40B4-BE49-F238E27FC236}">
                <a16:creationId xmlns:a16="http://schemas.microsoft.com/office/drawing/2014/main" id="{00121A50-3E19-42A4-9011-0FD5542A9C0A}"/>
              </a:ext>
            </a:extLst>
          </p:cNvPr>
          <p:cNvSpPr>
            <a:spLocks xmlns:a="http://schemas.openxmlformats.org/drawingml/2006/main" noGrp="1"/>
          </p:cNvSpPr>
          <p:nvPr/>
        </p:nvSpPr>
        <p:spPr>
          <a:xfrm xmlns:a="http://schemas.openxmlformats.org/drawingml/2006/main">
            <a:off x="5238750" y="2095500"/>
            <a:ext cx="0" cy="2571750"/>
          </a:xfrm>
          <a:prstGeom xmlns:a="http://schemas.openxmlformats.org/drawingml/2006/main" prst="line">
            <a:avLst/>
          </a:prstGeom>
          <a:noFill xmlns:a="http://schemas.openxmlformats.org/drawingml/2006/main"/>
          <a:ln xmlns:a="http://schemas.openxmlformats.org/drawingml/2006/main" w="19050">
            <a:solidFill>
              <a:srgbClr val="1F5138"/>
            </a:solidFill>
          </a:ln>
        </p:spPr>
      </p:sp>
      <p:sp>
        <p:nvSpPr>
          <p:cNvPr id="11" name="">
            <a:extLst xmlns:a="http://schemas.openxmlformats.org/drawingml/2006/main">
              <a:ext uri="{FF2B5EF4-FFF2-40B4-BE49-F238E27FC236}">
                <a16:creationId xmlns:a16="http://schemas.microsoft.com/office/drawing/2014/main" id="{72B56F84-5C98-43A4-A15D-97BAA3AD4E77}"/>
              </a:ext>
            </a:extLst>
          </p:cNvPr>
          <p:cNvSpPr>
            <a:spLocks xmlns:a="http://schemas.openxmlformats.org/drawingml/2006/main" noGrp="1"/>
          </p:cNvSpPr>
          <p:nvPr/>
        </p:nvSpPr>
        <p:spPr>
          <a:xfrm xmlns:a="http://schemas.openxmlformats.org/drawingml/2006/main">
            <a:off x="5762625" y="209550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6BFF8B"/>
                </a:solidFill>
                <a:latin typeface="Helvetica Neue"/>
                <a:ea typeface="Helvetica Neue"/>
                <a:cs typeface="Helvetica Neue"/>
              </a:defRPr>
            </a:pPr>
            <a:r>
              <a:rPr sz="975" b="1">
                <a:solidFill>
                  <a:srgbClr val="6BFF8B"/>
                </a:solidFill>
                <a:latin typeface="Helvetica Neue"/>
                <a:ea typeface="Helvetica Neue"/>
                <a:cs typeface="Helvetica Neue"/>
              </a:rPr>
              <a:t>GATE 2</a:t>
            </a:r>
          </a:p>
        </p:txBody>
      </p:sp>
      <p:sp>
        <p:nvSpPr>
          <p:cNvPr id="12" name="">
            <a:extLst xmlns:a="http://schemas.openxmlformats.org/drawingml/2006/main">
              <a:ext uri="{FF2B5EF4-FFF2-40B4-BE49-F238E27FC236}">
                <a16:creationId xmlns:a16="http://schemas.microsoft.com/office/drawing/2014/main" id="{B83E7899-83F9-4662-A1EC-30D4957EEF63}"/>
              </a:ext>
            </a:extLst>
          </p:cNvPr>
          <p:cNvSpPr>
            <a:spLocks xmlns:a="http://schemas.openxmlformats.org/drawingml/2006/main" noGrp="1"/>
          </p:cNvSpPr>
          <p:nvPr/>
        </p:nvSpPr>
        <p:spPr>
          <a:xfrm xmlns:a="http://schemas.openxmlformats.org/drawingml/2006/main">
            <a:off x="5762625" y="2381250"/>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1">
                <a:solidFill>
                  <a:srgbClr val="F0FFF4"/>
                </a:solidFill>
                <a:latin typeface="Helvetica Neue"/>
                <a:ea typeface="Helvetica Neue"/>
                <a:cs typeface="Helvetica Neue"/>
              </a:defRPr>
            </a:pPr>
            <a:r>
              <a:rPr sz="2400" b="1">
                <a:solidFill>
                  <a:srgbClr val="F0FFF4"/>
                </a:solidFill>
                <a:latin typeface="Helvetica Neue"/>
                <a:ea typeface="Helvetica Neue"/>
                <a:cs typeface="Helvetica Neue"/>
              </a:rPr>
              <a:t>Measured value</a:t>
            </a:r>
          </a:p>
        </p:txBody>
      </p:sp>
      <p:sp>
        <p:nvSpPr>
          <p:cNvPr id="13" name="">
            <a:extLst xmlns:a="http://schemas.openxmlformats.org/drawingml/2006/main">
              <a:ext uri="{FF2B5EF4-FFF2-40B4-BE49-F238E27FC236}">
                <a16:creationId xmlns:a16="http://schemas.microsoft.com/office/drawing/2014/main" id="{01A20799-52C5-4189-8B29-7EB53A8AD5E9}"/>
              </a:ext>
            </a:extLst>
          </p:cNvPr>
          <p:cNvSpPr>
            <a:spLocks xmlns:a="http://schemas.openxmlformats.org/drawingml/2006/main" noGrp="1"/>
          </p:cNvSpPr>
          <p:nvPr/>
        </p:nvSpPr>
        <p:spPr>
          <a:xfrm xmlns:a="http://schemas.openxmlformats.org/drawingml/2006/main">
            <a:off x="5762625" y="2914650"/>
            <a:ext cx="3905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F0FFF4"/>
                </a:solidFill>
                <a:latin typeface="Helvetica Neue"/>
                <a:ea typeface="Helvetica Neue"/>
                <a:cs typeface="Helvetica Neue"/>
              </a:defRPr>
            </a:pPr>
            <a:r>
              <a:rPr sz="1650" b="0">
                <a:solidFill>
                  <a:srgbClr val="F0FFF4"/>
                </a:solidFill>
                <a:latin typeface="Helvetica Neue"/>
                <a:ea typeface="Helvetica Neue"/>
                <a:cs typeface="Helvetica Neue"/>
              </a:rPr>
              <a:t>Same-fixture baseline</a:t>
            </a:r>
          </a:p>
          <a:p xmlns:a="http://schemas.openxmlformats.org/drawingml/2006/main">
            <a:pPr algn="l">
              <a:defRPr sz="1650" b="0">
                <a:solidFill>
                  <a:srgbClr val="F0FFF4"/>
                </a:solidFill>
                <a:latin typeface="Helvetica Neue"/>
                <a:ea typeface="Helvetica Neue"/>
                <a:cs typeface="Helvetica Neue"/>
              </a:defRPr>
            </a:pPr>
            <a:r>
              <a:rPr sz="1650" b="0">
                <a:solidFill>
                  <a:srgbClr val="F0FFF4"/>
                </a:solidFill>
                <a:latin typeface="Helvetica Neue"/>
                <a:ea typeface="Helvetica Neue"/>
                <a:cs typeface="Helvetica Neue"/>
              </a:rPr>
              <a:t>Cold and warm latency</a:t>
            </a:r>
          </a:p>
          <a:p xmlns:a="http://schemas.openxmlformats.org/drawingml/2006/main">
            <a:pPr algn="l">
              <a:defRPr sz="1650" b="0">
                <a:solidFill>
                  <a:srgbClr val="F0FFF4"/>
                </a:solidFill>
                <a:latin typeface="Helvetica Neue"/>
                <a:ea typeface="Helvetica Neue"/>
                <a:cs typeface="Helvetica Neue"/>
              </a:defRPr>
            </a:pPr>
            <a:r>
              <a:rPr sz="1650" b="0">
                <a:solidFill>
                  <a:srgbClr val="F0FFF4"/>
                </a:solidFill>
                <a:latin typeface="Helvetica Neue"/>
                <a:ea typeface="Helvetica Neue"/>
                <a:cs typeface="Helvetica Neue"/>
              </a:rPr>
              <a:t>Setup and storage cost</a:t>
            </a:r>
          </a:p>
          <a:p xmlns:a="http://schemas.openxmlformats.org/drawingml/2006/main">
            <a:pPr algn="l">
              <a:defRPr sz="1650" b="0">
                <a:solidFill>
                  <a:srgbClr val="F0FFF4"/>
                </a:solidFill>
                <a:latin typeface="Helvetica Neue"/>
                <a:ea typeface="Helvetica Neue"/>
                <a:cs typeface="Helvetica Neue"/>
              </a:defRPr>
            </a:pPr>
            <a:r>
              <a:rPr sz="1650" b="0">
                <a:solidFill>
                  <a:srgbClr val="F0FFF4"/>
                </a:solidFill>
                <a:latin typeface="Helvetica Neue"/>
                <a:ea typeface="Helvetica Neue"/>
                <a:cs typeface="Helvetica Neue"/>
              </a:rPr>
              <a:t>Multiple reuse horizons</a:t>
            </a:r>
          </a:p>
        </p:txBody>
      </p:sp>
      <p:sp>
        <p:nvSpPr>
          <p:cNvPr id="14" name="">
            <a:extLst xmlns:a="http://schemas.openxmlformats.org/drawingml/2006/main">
              <a:ext uri="{FF2B5EF4-FFF2-40B4-BE49-F238E27FC236}">
                <a16:creationId xmlns:a16="http://schemas.microsoft.com/office/drawing/2014/main" id="{52AB61A1-3291-440D-AEBB-AF6A4CBE1556}"/>
              </a:ext>
            </a:extLst>
          </p:cNvPr>
          <p:cNvSpPr>
            <a:spLocks xmlns:a="http://schemas.openxmlformats.org/drawingml/2006/main" noGrp="1"/>
          </p:cNvSpPr>
          <p:nvPr/>
        </p:nvSpPr>
        <p:spPr>
          <a:xfrm xmlns:a="http://schemas.openxmlformats.org/drawingml/2006/main">
            <a:off x="666750" y="4905375"/>
            <a:ext cx="981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F4D35E"/>
                </a:solidFill>
                <a:latin typeface="Helvetica Neue"/>
                <a:ea typeface="Helvetica Neue"/>
                <a:cs typeface="Helvetica Neue"/>
              </a:defRPr>
            </a:pPr>
            <a:r>
              <a:rPr sz="1575" b="1">
                <a:solidFill>
                  <a:srgbClr val="F4D35E"/>
                </a:solidFill>
                <a:latin typeface="Helvetica Neue"/>
                <a:ea typeface="Helvetica Neue"/>
                <a:cs typeface="Helvetica Neue"/>
              </a:rPr>
              <a:t>Reward uses conservative lower confidence speedup, then checks multi-family coverage and availability.</a:t>
            </a:r>
          </a:p>
        </p:txBody>
      </p:sp>
      <p:sp>
        <p:nvSpPr>
          <p:cNvPr id="15" name="">
            <a:extLst xmlns:a="http://schemas.openxmlformats.org/drawingml/2006/main">
              <a:ext uri="{FF2B5EF4-FFF2-40B4-BE49-F238E27FC236}">
                <a16:creationId xmlns:a16="http://schemas.microsoft.com/office/drawing/2014/main" id="{B8744531-5D2E-496B-B6A6-0173C076260D}"/>
              </a:ext>
            </a:extLst>
          </p:cNvPr>
          <p:cNvSpPr>
            <a:spLocks xmlns:a="http://schemas.openxmlformats.org/drawingml/2006/main" noGrp="1"/>
          </p:cNvSpPr>
          <p:nvPr/>
        </p:nvSpPr>
        <p:spPr>
          <a:xfrm xmlns:a="http://schemas.openxmlformats.org/drawingml/2006/main">
            <a:off x="666750" y="5715000"/>
            <a:ext cx="533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FF7474"/>
                </a:solidFill>
                <a:latin typeface="Helvetica Neue"/>
                <a:ea typeface="Helvetica Neue"/>
                <a:cs typeface="Helvetica Neue"/>
              </a:defRPr>
            </a:pPr>
            <a:r>
              <a:rPr sz="1350" b="1">
                <a:solidFill>
                  <a:srgbClr val="FF7474"/>
                </a:solidFill>
                <a:latin typeface="Helvetica Neue"/>
                <a:ea typeface="Helvetica Neue"/>
                <a:cs typeface="Helvetica Neue"/>
              </a:rPr>
              <a:t>No eligible cohort means no new weight update</a:t>
            </a:r>
          </a:p>
        </p:txBody>
      </p:sp>
    </p:spTree>
    <p:extLst>
      <p:ext uri="{BB962C8B-B14F-4D97-AF65-F5344CB8AC3E}">
        <p14:creationId xmlns:p14="http://schemas.microsoft.com/office/powerpoint/2010/main" val="1811907749"/>
      </p:ext>
    </p:extLst>
  </p:cSld>
</p:sld>
</file>

<file path=ppt/slides/slide6.xml><?xml version="1.0" encoding="utf-8"?>
<p:sld xmlns:p="http://schemas.openxmlformats.org/presentationml/2006/main">
  <p:cSld>
    <p:bg>
      <p:bgPr>
        <a:solidFill xmlns:a="http://schemas.openxmlformats.org/drawingml/2006/main">
          <a:srgbClr val="03110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288E120-DE21-4677-9AF9-38FCFAEFFE1D}"/>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1">
                <a:solidFill>
                  <a:srgbClr val="6BFF8B"/>
                </a:solidFill>
                <a:latin typeface="Helvetica Neue"/>
                <a:ea typeface="Helvetica Neue"/>
                <a:cs typeface="Helvetica Neue"/>
              </a:defRPr>
            </a:pPr>
            <a:r>
              <a:rPr sz="900" b="1">
                <a:solidFill>
                  <a:srgbClr val="6BFF8B"/>
                </a:solidFill>
                <a:latin typeface="Helvetica Neue"/>
                <a:ea typeface="Helvetica Neue"/>
                <a:cs typeface="Helvetica Neue"/>
              </a:rPr>
              <a:t>MECHANISM EVIDENCE</a:t>
            </a:r>
          </a:p>
        </p:txBody>
      </p:sp>
      <p:sp>
        <p:nvSpPr>
          <p:cNvPr id="2" name="">
            <a:extLst xmlns:a="http://schemas.openxmlformats.org/drawingml/2006/main">
              <a:ext uri="{FF2B5EF4-FFF2-40B4-BE49-F238E27FC236}">
                <a16:creationId xmlns:a16="http://schemas.microsoft.com/office/drawing/2014/main" id="{A1674414-0727-446A-ABBF-CAE9C8285EF8}"/>
              </a:ext>
            </a:extLst>
          </p:cNvPr>
          <p:cNvSpPr>
            <a:spLocks xmlns:a="http://schemas.openxmlformats.org/drawingml/2006/main" noGrp="1"/>
          </p:cNvSpPr>
          <p:nvPr/>
        </p:nvSpPr>
        <p:spPr>
          <a:xfrm xmlns:a="http://schemas.openxmlformats.org/drawingml/2006/main">
            <a:off x="11239500" y="266700"/>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00" b="0">
                <a:solidFill>
                  <a:srgbClr val="9BB7A7"/>
                </a:solidFill>
                <a:latin typeface="Helvetica Neue"/>
                <a:ea typeface="Helvetica Neue"/>
                <a:cs typeface="Helvetica Neue"/>
              </a:defRPr>
            </a:pPr>
            <a:r>
              <a:rPr sz="900" b="0">
                <a:solidFill>
                  <a:srgbClr val="9BB7A7"/>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34BC2017-88CD-4253-ADDA-BCE997462FB7}"/>
              </a:ext>
            </a:extLst>
          </p:cNvPr>
          <p:cNvSpPr>
            <a:spLocks xmlns:a="http://schemas.openxmlformats.org/drawingml/2006/main" noGrp="1"/>
          </p:cNvSpPr>
          <p:nvPr/>
        </p:nvSpPr>
        <p:spPr>
          <a:xfrm xmlns:a="http://schemas.openxmlformats.org/drawingml/2006/main">
            <a:off x="609600" y="6534150"/>
            <a:ext cx="10972800" cy="0"/>
          </a:xfrm>
          <a:prstGeom xmlns:a="http://schemas.openxmlformats.org/drawingml/2006/main" prst="line">
            <a:avLst/>
          </a:prstGeom>
          <a:noFill xmlns:a="http://schemas.openxmlformats.org/drawingml/2006/main"/>
          <a:ln xmlns:a="http://schemas.openxmlformats.org/drawingml/2006/main" w="9525">
            <a:solidFill>
              <a:srgbClr val="1F5138"/>
            </a:solidFill>
          </a:ln>
        </p:spPr>
      </p:sp>
      <p:sp>
        <p:nvSpPr>
          <p:cNvPr id="4" name="">
            <a:extLst xmlns:a="http://schemas.openxmlformats.org/drawingml/2006/main">
              <a:ext uri="{FF2B5EF4-FFF2-40B4-BE49-F238E27FC236}">
                <a16:creationId xmlns:a16="http://schemas.microsoft.com/office/drawing/2014/main" id="{9D806257-2DFD-4CD9-9E55-31305590542A}"/>
              </a:ext>
            </a:extLst>
          </p:cNvPr>
          <p:cNvSpPr>
            <a:spLocks xmlns:a="http://schemas.openxmlformats.org/drawingml/2006/main" noGrp="1"/>
          </p:cNvSpPr>
          <p:nvPr/>
        </p:nvSpPr>
        <p:spPr>
          <a:xfrm xmlns:a="http://schemas.openxmlformats.org/drawingml/2006/main">
            <a:off x="609600" y="657225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675" b="0">
                <a:solidFill>
                  <a:srgbClr val="9BB7A7"/>
                </a:solidFill>
                <a:latin typeface="Helvetica Neue"/>
                <a:ea typeface="Helvetica Neue"/>
                <a:cs typeface="Helvetica Neue"/>
              </a:defRPr>
            </a:pPr>
            <a:r>
              <a:rPr sz="675" b="0">
                <a:solidFill>
                  <a:srgbClr val="9BB7A7"/>
                </a:solidFill>
                <a:latin typeface="Helvetica Neue"/>
                <a:ea typeface="Helvetica Neue"/>
                <a:cs typeface="Helvetica Neue"/>
              </a:rPr>
              <a:t>PlanRace · Bittensor Global Subnet Hackathon · Checkpoint draft</a:t>
            </a:r>
          </a:p>
        </p:txBody>
      </p:sp>
      <p:sp>
        <p:nvSpPr>
          <p:cNvPr id="5" name="">
            <a:extLst xmlns:a="http://schemas.openxmlformats.org/drawingml/2006/main">
              <a:ext uri="{FF2B5EF4-FFF2-40B4-BE49-F238E27FC236}">
                <a16:creationId xmlns:a16="http://schemas.microsoft.com/office/drawing/2014/main" id="{D8EBAEBE-BCAC-483D-982E-5245CC779E0A}"/>
              </a:ext>
            </a:extLst>
          </p:cNvPr>
          <p:cNvSpPr>
            <a:spLocks xmlns:a="http://schemas.openxmlformats.org/drawingml/2006/main" noGrp="1"/>
          </p:cNvSpPr>
          <p:nvPr/>
        </p:nvSpPr>
        <p:spPr>
          <a:xfrm xmlns:a="http://schemas.openxmlformats.org/drawingml/2006/main">
            <a:off x="609600" y="60960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F0FFF4"/>
                </a:solidFill>
                <a:latin typeface="Helvetica Neue"/>
                <a:ea typeface="Helvetica Neue"/>
                <a:cs typeface="Helvetica Neue"/>
              </a:defRPr>
            </a:pPr>
            <a:r>
              <a:rPr sz="2700" b="1">
                <a:solidFill>
                  <a:srgbClr val="F0FFF4"/>
                </a:solidFill>
                <a:latin typeface="Helvetica Neue"/>
                <a:ea typeface="Helvetica Neue"/>
                <a:cs typeface="Helvetica Neue"/>
              </a:rPr>
              <a:t>512 seeded adversarial replications</a:t>
            </a:r>
          </a:p>
        </p:txBody>
      </p:sp>
      <p:sp>
        <p:nvSpPr>
          <p:cNvPr id="6" name="">
            <a:extLst xmlns:a="http://schemas.openxmlformats.org/drawingml/2006/main">
              <a:ext uri="{FF2B5EF4-FFF2-40B4-BE49-F238E27FC236}">
                <a16:creationId xmlns:a16="http://schemas.microsoft.com/office/drawing/2014/main" id="{83EF573D-D404-45CA-88D6-87B34703AFE8}"/>
              </a:ext>
            </a:extLst>
          </p:cNvPr>
          <p:cNvSpPr>
            <a:spLocks xmlns:a="http://schemas.openxmlformats.org/drawingml/2006/main" noGrp="1"/>
          </p:cNvSpPr>
          <p:nvPr/>
        </p:nvSpPr>
        <p:spPr>
          <a:xfrm xmlns:a="http://schemas.openxmlformats.org/drawingml/2006/main">
            <a:off x="609600" y="120015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9BB7A7"/>
                </a:solidFill>
                <a:latin typeface="Helvetica Neue"/>
                <a:ea typeface="Helvetica Neue"/>
                <a:cs typeface="Helvetica Neue"/>
              </a:defRPr>
            </a:pPr>
            <a:r>
              <a:rPr sz="1350" b="0">
                <a:solidFill>
                  <a:srgbClr val="9BB7A7"/>
                </a:solidFill>
                <a:latin typeface="Helvetica Neue"/>
                <a:ea typeface="Helvetica Neue"/>
                <a:cs typeface="Helvetica Neue"/>
              </a:rPr>
              <a:t>Stored artifacts are hash-checked and regenerate from the committed seed and configuration.</a:t>
            </a:r>
          </a:p>
        </p:txBody>
      </p:sp>
      <p:graphicFrame>
        <p:nvGraphicFramePr>
          <p:cNvPr id="18" name="Chart"/>
          <p:cNvGraphicFramePr/>
          <p:nvPr/>
        </p:nvGraphicFramePr>
        <p:xfrm>
          <a:off xmlns:a="http://schemas.openxmlformats.org/drawingml/2006/main" x="609600" y="1952625"/>
          <a:ext xmlns:a="http://schemas.openxmlformats.org/drawingml/2006/main" cx="6858000" cy="3619500"/>
        </p:xfrm>
        <a:graphic xmlns:a="http://schemas.openxmlformats.org/drawingml/2006/main">
          <a:graphicData uri="http://schemas.openxmlformats.org/drawingml/2006/chart">
            <c:chart xmlns:r="http://schemas.openxmlformats.org/officeDocument/2006/relationships" xmlns:c="http://schemas.openxmlformats.org/drawingml/2006/chart" r:id="R336028780cd94a14"/>
          </a:graphicData>
        </a:graphic>
      </p:graphicFrame>
      <p:sp>
        <p:nvSpPr>
          <p:cNvPr id="8" name="">
            <a:extLst xmlns:a="http://schemas.openxmlformats.org/drawingml/2006/main">
              <a:ext uri="{FF2B5EF4-FFF2-40B4-BE49-F238E27FC236}">
                <a16:creationId xmlns:a16="http://schemas.microsoft.com/office/drawing/2014/main" id="{3F4E314B-C845-4721-A7BB-43B00C8E3A98}"/>
              </a:ext>
            </a:extLst>
          </p:cNvPr>
          <p:cNvSpPr>
            <a:spLocks xmlns:a="http://schemas.openxmlformats.org/drawingml/2006/main" noGrp="1"/>
          </p:cNvSpPr>
          <p:nvPr/>
        </p:nvSpPr>
        <p:spPr>
          <a:xfrm xmlns:a="http://schemas.openxmlformats.org/drawingml/2006/main">
            <a:off x="8096250" y="209550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6BFF8B"/>
                </a:solidFill>
                <a:latin typeface="Helvetica Neue"/>
                <a:ea typeface="Helvetica Neue"/>
                <a:cs typeface="Helvetica Neue"/>
              </a:defRPr>
            </a:pPr>
            <a:r>
              <a:rPr sz="1725" b="1">
                <a:solidFill>
                  <a:srgbClr val="6BFF8B"/>
                </a:solidFill>
                <a:latin typeface="Helvetica Neue"/>
                <a:ea typeface="Helvetica Neue"/>
                <a:cs typeface="Helvetica Neue"/>
              </a:rPr>
              <a:t>What held</a:t>
            </a:r>
          </a:p>
        </p:txBody>
      </p:sp>
      <p:sp>
        <p:nvSpPr>
          <p:cNvPr id="9" name="">
            <a:extLst xmlns:a="http://schemas.openxmlformats.org/drawingml/2006/main">
              <a:ext uri="{FF2B5EF4-FFF2-40B4-BE49-F238E27FC236}">
                <a16:creationId xmlns:a16="http://schemas.microsoft.com/office/drawing/2014/main" id="{4B0F26E5-B7B5-422D-B833-4A793B6B17D9}"/>
              </a:ext>
            </a:extLst>
          </p:cNvPr>
          <p:cNvSpPr>
            <a:spLocks xmlns:a="http://schemas.openxmlformats.org/drawingml/2006/main" noGrp="1"/>
          </p:cNvSpPr>
          <p:nvPr/>
        </p:nvSpPr>
        <p:spPr>
          <a:xfrm xmlns:a="http://schemas.openxmlformats.org/drawingml/2006/main">
            <a:off x="8096250" y="2533650"/>
            <a:ext cx="3238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F0FFF4"/>
                </a:solidFill>
                <a:latin typeface="Helvetica Neue"/>
                <a:ea typeface="Helvetica Neue"/>
                <a:cs typeface="Helvetica Neue"/>
              </a:defRPr>
            </a:pPr>
            <a:r>
              <a:rPr sz="1575" b="0">
                <a:solidFill>
                  <a:srgbClr val="F0FFF4"/>
                </a:solidFill>
                <a:latin typeface="Helvetica Neue"/>
                <a:ea typeface="Helvetica Neue"/>
                <a:cs typeface="Helvetica Neue"/>
              </a:rPr>
              <a:t>0 accepted false claims</a:t>
            </a:r>
          </a:p>
          <a:p xmlns:a="http://schemas.openxmlformats.org/drawingml/2006/main">
            <a:pPr algn="l">
              <a:defRPr sz="1575" b="0">
                <a:solidFill>
                  <a:srgbClr val="F0FFF4"/>
                </a:solidFill>
                <a:latin typeface="Helvetica Neue"/>
                <a:ea typeface="Helvetica Neue"/>
                <a:cs typeface="Helvetica Neue"/>
              </a:defRPr>
            </a:pPr>
            <a:r>
              <a:rPr sz="1575" b="0">
                <a:solidFill>
                  <a:srgbClr val="F0FFF4"/>
                </a:solidFill>
                <a:latin typeface="Helvetica Neue"/>
                <a:ea typeface="Helvetica Neue"/>
                <a:cs typeface="Helvetica Neue"/>
              </a:rPr>
              <a:t>100% all-fail no-update</a:t>
            </a:r>
          </a:p>
          <a:p xmlns:a="http://schemas.openxmlformats.org/drawingml/2006/main">
            <a:pPr algn="l">
              <a:defRPr sz="1575" b="0">
                <a:solidFill>
                  <a:srgbClr val="F0FFF4"/>
                </a:solidFill>
                <a:latin typeface="Helvetica Neue"/>
                <a:ea typeface="Helvetica Neue"/>
                <a:cs typeface="Helvetica Neue"/>
              </a:defRPr>
            </a:pPr>
            <a:r>
              <a:rPr sz="1575" b="0">
                <a:solidFill>
                  <a:srgbClr val="F0FFF4"/>
                </a:solidFill>
                <a:latin typeface="Helvetica Neue"/>
                <a:ea typeface="Helvetica Neue"/>
                <a:cs typeface="Helvetica Neue"/>
              </a:rPr>
              <a:t>25% maximum top share</a:t>
            </a:r>
          </a:p>
        </p:txBody>
      </p:sp>
      <p:sp>
        <p:nvSpPr>
          <p:cNvPr id="10" name="">
            <a:extLst xmlns:a="http://schemas.openxmlformats.org/drawingml/2006/main">
              <a:ext uri="{FF2B5EF4-FFF2-40B4-BE49-F238E27FC236}">
                <a16:creationId xmlns:a16="http://schemas.microsoft.com/office/drawing/2014/main" id="{06CBBEFE-0B20-4BD6-A945-08F97B62B8DB}"/>
              </a:ext>
            </a:extLst>
          </p:cNvPr>
          <p:cNvSpPr>
            <a:spLocks xmlns:a="http://schemas.openxmlformats.org/drawingml/2006/main" noGrp="1"/>
          </p:cNvSpPr>
          <p:nvPr/>
        </p:nvSpPr>
        <p:spPr>
          <a:xfrm xmlns:a="http://schemas.openxmlformats.org/drawingml/2006/main">
            <a:off x="8096250" y="40957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F4D35E"/>
                </a:solidFill>
                <a:latin typeface="Helvetica Neue"/>
                <a:ea typeface="Helvetica Neue"/>
                <a:cs typeface="Helvetica Neue"/>
              </a:defRPr>
            </a:pPr>
            <a:r>
              <a:rPr sz="1725" b="1">
                <a:solidFill>
                  <a:srgbClr val="F4D35E"/>
                </a:solidFill>
                <a:latin typeface="Helvetica Neue"/>
                <a:ea typeface="Helvetica Neue"/>
                <a:cs typeface="Helvetica Neue"/>
              </a:rPr>
              <a:t>Disclosed limit</a:t>
            </a:r>
          </a:p>
        </p:txBody>
      </p:sp>
      <p:sp>
        <p:nvSpPr>
          <p:cNvPr id="11" name="">
            <a:extLst xmlns:a="http://schemas.openxmlformats.org/drawingml/2006/main">
              <a:ext uri="{FF2B5EF4-FFF2-40B4-BE49-F238E27FC236}">
                <a16:creationId xmlns:a16="http://schemas.microsoft.com/office/drawing/2014/main" id="{5CC6101B-C0F3-4472-B673-03F8684DA963}"/>
              </a:ext>
            </a:extLst>
          </p:cNvPr>
          <p:cNvSpPr>
            <a:spLocks xmlns:a="http://schemas.openxmlformats.org/drawingml/2006/main" noGrp="1"/>
          </p:cNvSpPr>
          <p:nvPr/>
        </p:nvSpPr>
        <p:spPr>
          <a:xfrm xmlns:a="http://schemas.openxmlformats.org/drawingml/2006/main">
            <a:off x="8096250" y="4514850"/>
            <a:ext cx="323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9BB7A7"/>
                </a:solidFill>
                <a:latin typeface="Helvetica Neue"/>
                <a:ea typeface="Helvetica Neue"/>
                <a:cs typeface="Helvetica Neue"/>
              </a:defRPr>
            </a:pPr>
            <a:r>
              <a:rPr sz="1275" b="0">
                <a:solidFill>
                  <a:srgbClr val="9BB7A7"/>
                </a:solidFill>
                <a:latin typeface="Helvetica Neue"/>
                <a:ea typeface="Helvetica Neue"/>
                <a:cs typeface="Helvetica Neue"/>
              </a:rPr>
              <a:t>Behavior-equivalent replicas can improve availability. Worst simulated allocation gain: 13.57 percentage points.</a:t>
            </a:r>
          </a:p>
        </p:txBody>
      </p:sp>
    </p:spTree>
    <p:extLst>
      <p:ext uri="{BB962C8B-B14F-4D97-AF65-F5344CB8AC3E}">
        <p14:creationId xmlns:p14="http://schemas.microsoft.com/office/powerpoint/2010/main" val="32329213"/>
      </p:ext>
    </p:extLst>
  </p:cSld>
</p:sld>
</file>

<file path=ppt/slides/slide7.xml><?xml version="1.0" encoding="utf-8"?>
<p:sld xmlns:p="http://schemas.openxmlformats.org/presentationml/2006/main">
  <p:cSld>
    <p:bg>
      <p:bgPr>
        <a:solidFill xmlns:a="http://schemas.openxmlformats.org/drawingml/2006/main">
          <a:srgbClr val="03110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8E0D2C93-E0B2-46A9-98EB-0B05CA184652}"/>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1">
                <a:solidFill>
                  <a:srgbClr val="6BFF8B"/>
                </a:solidFill>
                <a:latin typeface="Helvetica Neue"/>
                <a:ea typeface="Helvetica Neue"/>
                <a:cs typeface="Helvetica Neue"/>
              </a:defRPr>
            </a:pPr>
            <a:r>
              <a:rPr sz="900" b="1">
                <a:solidFill>
                  <a:srgbClr val="6BFF8B"/>
                </a:solidFill>
                <a:latin typeface="Helvetica Neue"/>
                <a:ea typeface="Helvetica Neue"/>
                <a:cs typeface="Helvetica Neue"/>
              </a:rPr>
              <a:t>WORKING SYSTEM</a:t>
            </a:r>
          </a:p>
        </p:txBody>
      </p:sp>
      <p:sp>
        <p:nvSpPr>
          <p:cNvPr id="2" name="">
            <a:extLst xmlns:a="http://schemas.openxmlformats.org/drawingml/2006/main">
              <a:ext uri="{FF2B5EF4-FFF2-40B4-BE49-F238E27FC236}">
                <a16:creationId xmlns:a16="http://schemas.microsoft.com/office/drawing/2014/main" id="{F288701A-D47B-4AD5-97A4-DD54EBEE3725}"/>
              </a:ext>
            </a:extLst>
          </p:cNvPr>
          <p:cNvSpPr>
            <a:spLocks xmlns:a="http://schemas.openxmlformats.org/drawingml/2006/main" noGrp="1"/>
          </p:cNvSpPr>
          <p:nvPr/>
        </p:nvSpPr>
        <p:spPr>
          <a:xfrm xmlns:a="http://schemas.openxmlformats.org/drawingml/2006/main">
            <a:off x="11239500" y="266700"/>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00" b="0">
                <a:solidFill>
                  <a:srgbClr val="9BB7A7"/>
                </a:solidFill>
                <a:latin typeface="Helvetica Neue"/>
                <a:ea typeface="Helvetica Neue"/>
                <a:cs typeface="Helvetica Neue"/>
              </a:defRPr>
            </a:pPr>
            <a:r>
              <a:rPr sz="900" b="0">
                <a:solidFill>
                  <a:srgbClr val="9BB7A7"/>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60AC2436-40BD-41A4-AB53-FC07D5E5AC58}"/>
              </a:ext>
            </a:extLst>
          </p:cNvPr>
          <p:cNvSpPr>
            <a:spLocks xmlns:a="http://schemas.openxmlformats.org/drawingml/2006/main" noGrp="1"/>
          </p:cNvSpPr>
          <p:nvPr/>
        </p:nvSpPr>
        <p:spPr>
          <a:xfrm xmlns:a="http://schemas.openxmlformats.org/drawingml/2006/main">
            <a:off x="609600" y="6534150"/>
            <a:ext cx="10972800" cy="0"/>
          </a:xfrm>
          <a:prstGeom xmlns:a="http://schemas.openxmlformats.org/drawingml/2006/main" prst="line">
            <a:avLst/>
          </a:prstGeom>
          <a:noFill xmlns:a="http://schemas.openxmlformats.org/drawingml/2006/main"/>
          <a:ln xmlns:a="http://schemas.openxmlformats.org/drawingml/2006/main" w="9525">
            <a:solidFill>
              <a:srgbClr val="1F5138"/>
            </a:solidFill>
          </a:ln>
        </p:spPr>
      </p:sp>
      <p:sp>
        <p:nvSpPr>
          <p:cNvPr id="4" name="">
            <a:extLst xmlns:a="http://schemas.openxmlformats.org/drawingml/2006/main">
              <a:ext uri="{FF2B5EF4-FFF2-40B4-BE49-F238E27FC236}">
                <a16:creationId xmlns:a16="http://schemas.microsoft.com/office/drawing/2014/main" id="{23E35DF3-EB51-4377-A852-F92C1F462CCC}"/>
              </a:ext>
            </a:extLst>
          </p:cNvPr>
          <p:cNvSpPr>
            <a:spLocks xmlns:a="http://schemas.openxmlformats.org/drawingml/2006/main" noGrp="1"/>
          </p:cNvSpPr>
          <p:nvPr/>
        </p:nvSpPr>
        <p:spPr>
          <a:xfrm xmlns:a="http://schemas.openxmlformats.org/drawingml/2006/main">
            <a:off x="609600" y="657225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675" b="0">
                <a:solidFill>
                  <a:srgbClr val="9BB7A7"/>
                </a:solidFill>
                <a:latin typeface="Helvetica Neue"/>
                <a:ea typeface="Helvetica Neue"/>
                <a:cs typeface="Helvetica Neue"/>
              </a:defRPr>
            </a:pPr>
            <a:r>
              <a:rPr sz="675" b="0">
                <a:solidFill>
                  <a:srgbClr val="9BB7A7"/>
                </a:solidFill>
                <a:latin typeface="Helvetica Neue"/>
                <a:ea typeface="Helvetica Neue"/>
                <a:cs typeface="Helvetica Neue"/>
              </a:rPr>
              <a:t>PlanRace · Bittensor Global Subnet Hackathon · Checkpoint draft</a:t>
            </a:r>
          </a:p>
        </p:txBody>
      </p:sp>
      <p:sp>
        <p:nvSpPr>
          <p:cNvPr id="5" name="">
            <a:extLst xmlns:a="http://schemas.openxmlformats.org/drawingml/2006/main">
              <a:ext uri="{FF2B5EF4-FFF2-40B4-BE49-F238E27FC236}">
                <a16:creationId xmlns:a16="http://schemas.microsoft.com/office/drawing/2014/main" id="{7057B478-D109-4A24-9218-FCC1EB625A39}"/>
              </a:ext>
            </a:extLst>
          </p:cNvPr>
          <p:cNvSpPr>
            <a:spLocks xmlns:a="http://schemas.openxmlformats.org/drawingml/2006/main" noGrp="1"/>
          </p:cNvSpPr>
          <p:nvPr/>
        </p:nvSpPr>
        <p:spPr>
          <a:xfrm xmlns:a="http://schemas.openxmlformats.org/drawingml/2006/main">
            <a:off x="609600" y="60960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F0FFF4"/>
                </a:solidFill>
                <a:latin typeface="Helvetica Neue"/>
                <a:ea typeface="Helvetica Neue"/>
                <a:cs typeface="Helvetica Neue"/>
              </a:defRPr>
            </a:pPr>
            <a:r>
              <a:rPr sz="2700" b="1">
                <a:solidFill>
                  <a:srgbClr val="F0FFF4"/>
                </a:solidFill>
                <a:latin typeface="Helvetica Neue"/>
                <a:ea typeface="Helvetica Neue"/>
                <a:cs typeface="Helvetica Neue"/>
              </a:rPr>
              <a:t>A verified local Subtensor run</a:t>
            </a:r>
          </a:p>
        </p:txBody>
      </p:sp>
      <p:sp>
        <p:nvSpPr>
          <p:cNvPr id="6" name="">
            <a:extLst xmlns:a="http://schemas.openxmlformats.org/drawingml/2006/main">
              <a:ext uri="{FF2B5EF4-FFF2-40B4-BE49-F238E27FC236}">
                <a16:creationId xmlns:a16="http://schemas.microsoft.com/office/drawing/2014/main" id="{070F79EE-4E11-485B-80B3-7FB7707F263A}"/>
              </a:ext>
            </a:extLst>
          </p:cNvPr>
          <p:cNvSpPr>
            <a:spLocks xmlns:a="http://schemas.openxmlformats.org/drawingml/2006/main" noGrp="1"/>
          </p:cNvSpPr>
          <p:nvPr/>
        </p:nvSpPr>
        <p:spPr>
          <a:xfrm xmlns:a="http://schemas.openxmlformats.org/drawingml/2006/main">
            <a:off x="609600" y="120015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9BB7A7"/>
                </a:solidFill>
                <a:latin typeface="Helvetica Neue"/>
                <a:ea typeface="Helvetica Neue"/>
                <a:cs typeface="Helvetica Neue"/>
              </a:defRPr>
            </a:pPr>
            <a:r>
              <a:rPr sz="1350" b="0">
                <a:solidFill>
                  <a:srgbClr val="9BB7A7"/>
                </a:solidFill>
                <a:latin typeface="Helvetica Neue"/>
                <a:ea typeface="Helvetica Neue"/>
                <a:cs typeface="Helvetica Neue"/>
              </a:rPr>
              <a:t>The public dashboard reads the signed manifest. It does not invent success from UI state.</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d46bb74a67d4408b"/>
          <a:srcRect xmlns:a="http://schemas.openxmlformats.org/drawingml/2006/main" l="0" t="39856" r="0" b="39856"/>
          <a:stretch xmlns:a="http://schemas.openxmlformats.org/drawingml/2006/main">
            <a:fillRect l="0" t="0" r="0" b="0"/>
          </a:stretch>
        </p:blipFill>
        <p:spPr>
          <a:xfrm xmlns:a="http://schemas.openxmlformats.org/drawingml/2006/main">
            <a:off x="609600" y="1952625"/>
            <a:ext cx="6572250" cy="3857625"/>
          </a:xfrm>
          <a:prstGeom xmlns:a="http://schemas.openxmlformats.org/drawingml/2006/main" prst="roundRect">
            <a:avLst>
              <a:gd name="adj" fmla="val 3457"/>
            </a:avLst>
          </a:prstGeom>
        </p:spPr>
      </p:pic>
      <p:sp>
        <p:nvSpPr>
          <p:cNvPr id="8" name="">
            <a:extLst xmlns:a="http://schemas.openxmlformats.org/drawingml/2006/main">
              <a:ext uri="{FF2B5EF4-FFF2-40B4-BE49-F238E27FC236}">
                <a16:creationId xmlns:a16="http://schemas.microsoft.com/office/drawing/2014/main" id="{2C63032B-B7A1-4E20-A906-16ECA5431A5D}"/>
              </a:ext>
            </a:extLst>
          </p:cNvPr>
          <p:cNvSpPr>
            <a:spLocks xmlns:a="http://schemas.openxmlformats.org/drawingml/2006/main" noGrp="1"/>
          </p:cNvSpPr>
          <p:nvPr/>
        </p:nvSpPr>
        <p:spPr>
          <a:xfrm xmlns:a="http://schemas.openxmlformats.org/drawingml/2006/main">
            <a:off x="7810500" y="20002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6BFF8B"/>
                </a:solidFill>
                <a:latin typeface="Helvetica Neue"/>
                <a:ea typeface="Helvetica Neue"/>
                <a:cs typeface="Helvetica Neue"/>
              </a:defRPr>
            </a:pPr>
            <a:r>
              <a:rPr sz="3225" b="1">
                <a:solidFill>
                  <a:srgbClr val="6BFF8B"/>
                </a:solidFill>
                <a:latin typeface="Helvetica Neue"/>
                <a:ea typeface="Helvetica Neue"/>
                <a:cs typeface="Helvetica Neue"/>
              </a:rPr>
              <a:t>30</a:t>
            </a:r>
          </a:p>
        </p:txBody>
      </p:sp>
      <p:sp>
        <p:nvSpPr>
          <p:cNvPr id="9" name="">
            <a:extLst xmlns:a="http://schemas.openxmlformats.org/drawingml/2006/main">
              <a:ext uri="{FF2B5EF4-FFF2-40B4-BE49-F238E27FC236}">
                <a16:creationId xmlns:a16="http://schemas.microsoft.com/office/drawing/2014/main" id="{076D5563-C8E0-4523-864D-95328CA89008}"/>
              </a:ext>
            </a:extLst>
          </p:cNvPr>
          <p:cNvSpPr>
            <a:spLocks xmlns:a="http://schemas.openxmlformats.org/drawingml/2006/main" noGrp="1"/>
          </p:cNvSpPr>
          <p:nvPr/>
        </p:nvSpPr>
        <p:spPr>
          <a:xfrm xmlns:a="http://schemas.openxmlformats.org/drawingml/2006/main">
            <a:off x="9067800" y="2095500"/>
            <a:ext cx="2238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9BB7A7"/>
                </a:solidFill>
                <a:latin typeface="Helvetica Neue"/>
                <a:ea typeface="Helvetica Neue"/>
                <a:cs typeface="Helvetica Neue"/>
              </a:defRPr>
            </a:pPr>
            <a:r>
              <a:rPr sz="1275" b="0">
                <a:solidFill>
                  <a:srgbClr val="9BB7A7"/>
                </a:solidFill>
                <a:latin typeface="Helvetica Neue"/>
                <a:ea typeface="Helvetica Neue"/>
                <a:cs typeface="Helvetica Neue"/>
              </a:rPr>
              <a:t>epochs</a:t>
            </a:r>
          </a:p>
        </p:txBody>
      </p:sp>
      <p:sp>
        <p:nvSpPr>
          <p:cNvPr id="10" name="">
            <a:extLst xmlns:a="http://schemas.openxmlformats.org/drawingml/2006/main">
              <a:ext uri="{FF2B5EF4-FFF2-40B4-BE49-F238E27FC236}">
                <a16:creationId xmlns:a16="http://schemas.microsoft.com/office/drawing/2014/main" id="{326C0D81-4782-4FA0-8035-9149C54BF893}"/>
              </a:ext>
            </a:extLst>
          </p:cNvPr>
          <p:cNvSpPr>
            <a:spLocks xmlns:a="http://schemas.openxmlformats.org/drawingml/2006/main" noGrp="1"/>
          </p:cNvSpPr>
          <p:nvPr/>
        </p:nvSpPr>
        <p:spPr>
          <a:xfrm xmlns:a="http://schemas.openxmlformats.org/drawingml/2006/main">
            <a:off x="7810500" y="289560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6BFF8B"/>
                </a:solidFill>
                <a:latin typeface="Helvetica Neue"/>
                <a:ea typeface="Helvetica Neue"/>
                <a:cs typeface="Helvetica Neue"/>
              </a:defRPr>
            </a:pPr>
            <a:r>
              <a:rPr sz="3225" b="1">
                <a:solidFill>
                  <a:srgbClr val="6BFF8B"/>
                </a:solidFill>
                <a:latin typeface="Helvetica Neue"/>
                <a:ea typeface="Helvetica Neue"/>
                <a:cs typeface="Helvetica Neue"/>
              </a:rPr>
              <a:t>300</a:t>
            </a:r>
          </a:p>
        </p:txBody>
      </p:sp>
      <p:sp>
        <p:nvSpPr>
          <p:cNvPr id="11" name="">
            <a:extLst xmlns:a="http://schemas.openxmlformats.org/drawingml/2006/main">
              <a:ext uri="{FF2B5EF4-FFF2-40B4-BE49-F238E27FC236}">
                <a16:creationId xmlns:a16="http://schemas.microsoft.com/office/drawing/2014/main" id="{DA6B9B46-C2EC-401E-8D46-F95D21FC9B4C}"/>
              </a:ext>
            </a:extLst>
          </p:cNvPr>
          <p:cNvSpPr>
            <a:spLocks xmlns:a="http://schemas.openxmlformats.org/drawingml/2006/main" noGrp="1"/>
          </p:cNvSpPr>
          <p:nvPr/>
        </p:nvSpPr>
        <p:spPr>
          <a:xfrm xmlns:a="http://schemas.openxmlformats.org/drawingml/2006/main">
            <a:off x="9067800" y="2990850"/>
            <a:ext cx="2238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9BB7A7"/>
                </a:solidFill>
                <a:latin typeface="Helvetica Neue"/>
                <a:ea typeface="Helvetica Neue"/>
                <a:cs typeface="Helvetica Neue"/>
              </a:defRPr>
            </a:pPr>
            <a:r>
              <a:rPr sz="1275" b="0">
                <a:solidFill>
                  <a:srgbClr val="9BB7A7"/>
                </a:solidFill>
                <a:latin typeface="Helvetica Neue"/>
                <a:ea typeface="Helvetica Neue"/>
                <a:cs typeface="Helvetica Neue"/>
              </a:rPr>
              <a:t>authenticated requests</a:t>
            </a:r>
          </a:p>
        </p:txBody>
      </p:sp>
      <p:sp>
        <p:nvSpPr>
          <p:cNvPr id="12" name="">
            <a:extLst xmlns:a="http://schemas.openxmlformats.org/drawingml/2006/main">
              <a:ext uri="{FF2B5EF4-FFF2-40B4-BE49-F238E27FC236}">
                <a16:creationId xmlns:a16="http://schemas.microsoft.com/office/drawing/2014/main" id="{9CF06722-12CF-4E36-B0A3-8FDE68B32421}"/>
              </a:ext>
            </a:extLst>
          </p:cNvPr>
          <p:cNvSpPr>
            <a:spLocks xmlns:a="http://schemas.openxmlformats.org/drawingml/2006/main" noGrp="1"/>
          </p:cNvSpPr>
          <p:nvPr/>
        </p:nvSpPr>
        <p:spPr>
          <a:xfrm xmlns:a="http://schemas.openxmlformats.org/drawingml/2006/main">
            <a:off x="7810500" y="379095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6BFF8B"/>
                </a:solidFill>
                <a:latin typeface="Helvetica Neue"/>
                <a:ea typeface="Helvetica Neue"/>
                <a:cs typeface="Helvetica Neue"/>
              </a:defRPr>
            </a:pPr>
            <a:r>
              <a:rPr sz="3225" b="1">
                <a:solidFill>
                  <a:srgbClr val="6BFF8B"/>
                </a:solidFill>
                <a:latin typeface="Helvetica Neue"/>
                <a:ea typeface="Helvetica Neue"/>
                <a:cs typeface="Helvetica Neue"/>
              </a:rPr>
              <a:t>270</a:t>
            </a:r>
          </a:p>
        </p:txBody>
      </p:sp>
      <p:sp>
        <p:nvSpPr>
          <p:cNvPr id="13" name="">
            <a:extLst xmlns:a="http://schemas.openxmlformats.org/drawingml/2006/main">
              <a:ext uri="{FF2B5EF4-FFF2-40B4-BE49-F238E27FC236}">
                <a16:creationId xmlns:a16="http://schemas.microsoft.com/office/drawing/2014/main" id="{8B71134C-233E-4F75-AA3F-FE73A7859DF7}"/>
              </a:ext>
            </a:extLst>
          </p:cNvPr>
          <p:cNvSpPr>
            <a:spLocks xmlns:a="http://schemas.openxmlformats.org/drawingml/2006/main" noGrp="1"/>
          </p:cNvSpPr>
          <p:nvPr/>
        </p:nvSpPr>
        <p:spPr>
          <a:xfrm xmlns:a="http://schemas.openxmlformats.org/drawingml/2006/main">
            <a:off x="9067800" y="3886200"/>
            <a:ext cx="2238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9BB7A7"/>
                </a:solidFill>
                <a:latin typeface="Helvetica Neue"/>
                <a:ea typeface="Helvetica Neue"/>
                <a:cs typeface="Helvetica Neue"/>
              </a:defRPr>
            </a:pPr>
            <a:r>
              <a:rPr sz="1275" b="0">
                <a:solidFill>
                  <a:srgbClr val="9BB7A7"/>
                </a:solidFill>
                <a:latin typeface="Helvetica Neue"/>
                <a:ea typeface="Helvetica Neue"/>
                <a:cs typeface="Helvetica Neue"/>
              </a:rPr>
              <a:t>signed responses</a:t>
            </a:r>
          </a:p>
        </p:txBody>
      </p:sp>
      <p:sp>
        <p:nvSpPr>
          <p:cNvPr id="14" name="">
            <a:extLst xmlns:a="http://schemas.openxmlformats.org/drawingml/2006/main">
              <a:ext uri="{FF2B5EF4-FFF2-40B4-BE49-F238E27FC236}">
                <a16:creationId xmlns:a16="http://schemas.microsoft.com/office/drawing/2014/main" id="{CA24C4D4-475B-4F48-9141-7BD0B6DA7E5A}"/>
              </a:ext>
            </a:extLst>
          </p:cNvPr>
          <p:cNvSpPr>
            <a:spLocks xmlns:a="http://schemas.openxmlformats.org/drawingml/2006/main" noGrp="1"/>
          </p:cNvSpPr>
          <p:nvPr/>
        </p:nvSpPr>
        <p:spPr>
          <a:xfrm xmlns:a="http://schemas.openxmlformats.org/drawingml/2006/main">
            <a:off x="7810500" y="4686300"/>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6BFF8B"/>
                </a:solidFill>
                <a:latin typeface="Helvetica Neue"/>
                <a:ea typeface="Helvetica Neue"/>
                <a:cs typeface="Helvetica Neue"/>
              </a:defRPr>
            </a:pPr>
            <a:r>
              <a:rPr sz="3225" b="1">
                <a:solidFill>
                  <a:srgbClr val="6BFF8B"/>
                </a:solidFill>
                <a:latin typeface="Helvetica Neue"/>
                <a:ea typeface="Helvetica Neue"/>
                <a:cs typeface="Helvetica Neue"/>
              </a:rPr>
              <a:t>6</a:t>
            </a:r>
          </a:p>
        </p:txBody>
      </p:sp>
      <p:sp>
        <p:nvSpPr>
          <p:cNvPr id="15" name="">
            <a:extLst xmlns:a="http://schemas.openxmlformats.org/drawingml/2006/main">
              <a:ext uri="{FF2B5EF4-FFF2-40B4-BE49-F238E27FC236}">
                <a16:creationId xmlns:a16="http://schemas.microsoft.com/office/drawing/2014/main" id="{F33D6400-5D9E-4E91-9939-430B213A6CF8}"/>
              </a:ext>
            </a:extLst>
          </p:cNvPr>
          <p:cNvSpPr>
            <a:spLocks xmlns:a="http://schemas.openxmlformats.org/drawingml/2006/main" noGrp="1"/>
          </p:cNvSpPr>
          <p:nvPr/>
        </p:nvSpPr>
        <p:spPr>
          <a:xfrm xmlns:a="http://schemas.openxmlformats.org/drawingml/2006/main">
            <a:off x="9067800" y="4781550"/>
            <a:ext cx="2238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9BB7A7"/>
                </a:solidFill>
                <a:latin typeface="Helvetica Neue"/>
                <a:ea typeface="Helvetica Neue"/>
                <a:cs typeface="Helvetica Neue"/>
              </a:defRPr>
            </a:pPr>
            <a:r>
              <a:rPr sz="1275" b="0">
                <a:solidFill>
                  <a:srgbClr val="9BB7A7"/>
                </a:solidFill>
                <a:latin typeface="Helvetica Neue"/>
                <a:ea typeface="Helvetica Neue"/>
                <a:cs typeface="Helvetica Neue"/>
              </a:rPr>
              <a:t>query families</a:t>
            </a:r>
          </a:p>
        </p:txBody>
      </p:sp>
      <p:sp>
        <p:nvSpPr>
          <p:cNvPr id="16" name="">
            <a:extLst xmlns:a="http://schemas.openxmlformats.org/drawingml/2006/main">
              <a:ext uri="{FF2B5EF4-FFF2-40B4-BE49-F238E27FC236}">
                <a16:creationId xmlns:a16="http://schemas.microsoft.com/office/drawing/2014/main" id="{D6E9B191-CBBC-474C-8A9B-11DC79089273}"/>
              </a:ext>
            </a:extLst>
          </p:cNvPr>
          <p:cNvSpPr>
            <a:spLocks xmlns:a="http://schemas.openxmlformats.org/drawingml/2006/main" noGrp="1"/>
          </p:cNvSpPr>
          <p:nvPr/>
        </p:nvSpPr>
        <p:spPr>
          <a:xfrm xmlns:a="http://schemas.openxmlformats.org/drawingml/2006/main">
            <a:off x="7810500" y="5715000"/>
            <a:ext cx="3524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0">
                <a:solidFill>
                  <a:srgbClr val="F4D35E"/>
                </a:solidFill>
                <a:latin typeface="Helvetica Neue"/>
                <a:ea typeface="Helvetica Neue"/>
                <a:cs typeface="Helvetica Neue"/>
              </a:defRPr>
            </a:pPr>
            <a:r>
              <a:rPr sz="1050" b="0">
                <a:solidFill>
                  <a:srgbClr val="F4D35E"/>
                </a:solidFill>
                <a:latin typeface="Helvetica Neue"/>
                <a:ea typeface="Helvetica Neue"/>
                <a:cs typeface="Helvetica Neue"/>
              </a:rPr>
              <a:t>Finalized local extrinsic 23608-0002 · four recipients at 25% each</a:t>
            </a:r>
          </a:p>
        </p:txBody>
      </p:sp>
    </p:spTree>
    <p:extLst>
      <p:ext uri="{BB962C8B-B14F-4D97-AF65-F5344CB8AC3E}">
        <p14:creationId xmlns:p14="http://schemas.microsoft.com/office/powerpoint/2010/main" val="336125436"/>
      </p:ext>
    </p:extLst>
  </p:cSld>
</p:sld>
</file>

<file path=ppt/slides/slide8.xml><?xml version="1.0" encoding="utf-8"?>
<p:sld xmlns:p="http://schemas.openxmlformats.org/presentationml/2006/main">
  <p:cSld>
    <p:bg>
      <p:bgPr>
        <a:solidFill xmlns:a="http://schemas.openxmlformats.org/drawingml/2006/main">
          <a:srgbClr val="03110C"/>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7CB43B16-4780-45E4-8DF4-A773B76D0277}"/>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1">
                <a:solidFill>
                  <a:srgbClr val="6BFF8B"/>
                </a:solidFill>
                <a:latin typeface="Helvetica Neue"/>
                <a:ea typeface="Helvetica Neue"/>
                <a:cs typeface="Helvetica Neue"/>
              </a:defRPr>
            </a:pPr>
            <a:r>
              <a:rPr sz="900" b="1">
                <a:solidFill>
                  <a:srgbClr val="6BFF8B"/>
                </a:solidFill>
                <a:latin typeface="Helvetica Neue"/>
                <a:ea typeface="Helvetica Neue"/>
                <a:cs typeface="Helvetica Neue"/>
              </a:rPr>
              <a:t>BITTENSOR ARCHITECTURE</a:t>
            </a:r>
          </a:p>
        </p:txBody>
      </p:sp>
      <p:sp>
        <p:nvSpPr>
          <p:cNvPr id="2" name="">
            <a:extLst xmlns:a="http://schemas.openxmlformats.org/drawingml/2006/main">
              <a:ext uri="{FF2B5EF4-FFF2-40B4-BE49-F238E27FC236}">
                <a16:creationId xmlns:a16="http://schemas.microsoft.com/office/drawing/2014/main" id="{03B16F01-294D-4952-A2BD-D4F40EDE8193}"/>
              </a:ext>
            </a:extLst>
          </p:cNvPr>
          <p:cNvSpPr>
            <a:spLocks xmlns:a="http://schemas.openxmlformats.org/drawingml/2006/main" noGrp="1"/>
          </p:cNvSpPr>
          <p:nvPr/>
        </p:nvSpPr>
        <p:spPr>
          <a:xfrm xmlns:a="http://schemas.openxmlformats.org/drawingml/2006/main">
            <a:off x="11239500" y="266700"/>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00" b="0">
                <a:solidFill>
                  <a:srgbClr val="9BB7A7"/>
                </a:solidFill>
                <a:latin typeface="Helvetica Neue"/>
                <a:ea typeface="Helvetica Neue"/>
                <a:cs typeface="Helvetica Neue"/>
              </a:defRPr>
            </a:pPr>
            <a:r>
              <a:rPr sz="900" b="0">
                <a:solidFill>
                  <a:srgbClr val="9BB7A7"/>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84E14208-F5A1-4EB5-96BB-45C1CE09CD37}"/>
              </a:ext>
            </a:extLst>
          </p:cNvPr>
          <p:cNvSpPr>
            <a:spLocks xmlns:a="http://schemas.openxmlformats.org/drawingml/2006/main" noGrp="1"/>
          </p:cNvSpPr>
          <p:nvPr/>
        </p:nvSpPr>
        <p:spPr>
          <a:xfrm xmlns:a="http://schemas.openxmlformats.org/drawingml/2006/main">
            <a:off x="609600" y="6534150"/>
            <a:ext cx="10972800" cy="0"/>
          </a:xfrm>
          <a:prstGeom xmlns:a="http://schemas.openxmlformats.org/drawingml/2006/main" prst="line">
            <a:avLst/>
          </a:prstGeom>
          <a:noFill xmlns:a="http://schemas.openxmlformats.org/drawingml/2006/main"/>
          <a:ln xmlns:a="http://schemas.openxmlformats.org/drawingml/2006/main" w="9525">
            <a:solidFill>
              <a:srgbClr val="1F5138"/>
            </a:solidFill>
          </a:ln>
        </p:spPr>
      </p:sp>
      <p:sp>
        <p:nvSpPr>
          <p:cNvPr id="4" name="">
            <a:extLst xmlns:a="http://schemas.openxmlformats.org/drawingml/2006/main">
              <a:ext uri="{FF2B5EF4-FFF2-40B4-BE49-F238E27FC236}">
                <a16:creationId xmlns:a16="http://schemas.microsoft.com/office/drawing/2014/main" id="{988AC601-77F9-4726-A4A8-E0D0CF2ACDB8}"/>
              </a:ext>
            </a:extLst>
          </p:cNvPr>
          <p:cNvSpPr>
            <a:spLocks xmlns:a="http://schemas.openxmlformats.org/drawingml/2006/main" noGrp="1"/>
          </p:cNvSpPr>
          <p:nvPr/>
        </p:nvSpPr>
        <p:spPr>
          <a:xfrm xmlns:a="http://schemas.openxmlformats.org/drawingml/2006/main">
            <a:off x="609600" y="657225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675" b="0">
                <a:solidFill>
                  <a:srgbClr val="9BB7A7"/>
                </a:solidFill>
                <a:latin typeface="Helvetica Neue"/>
                <a:ea typeface="Helvetica Neue"/>
                <a:cs typeface="Helvetica Neue"/>
              </a:defRPr>
            </a:pPr>
            <a:r>
              <a:rPr sz="675" b="0">
                <a:solidFill>
                  <a:srgbClr val="9BB7A7"/>
                </a:solidFill>
                <a:latin typeface="Helvetica Neue"/>
                <a:ea typeface="Helvetica Neue"/>
                <a:cs typeface="Helvetica Neue"/>
              </a:rPr>
              <a:t>PlanRace · Bittensor Global Subnet Hackathon · Checkpoint draft</a:t>
            </a:r>
          </a:p>
        </p:txBody>
      </p:sp>
      <p:sp>
        <p:nvSpPr>
          <p:cNvPr id="5" name="">
            <a:extLst xmlns:a="http://schemas.openxmlformats.org/drawingml/2006/main">
              <a:ext uri="{FF2B5EF4-FFF2-40B4-BE49-F238E27FC236}">
                <a16:creationId xmlns:a16="http://schemas.microsoft.com/office/drawing/2014/main" id="{3CBEF772-895E-497B-BE33-AF923A49DC7B}"/>
              </a:ext>
            </a:extLst>
          </p:cNvPr>
          <p:cNvSpPr>
            <a:spLocks xmlns:a="http://schemas.openxmlformats.org/drawingml/2006/main" noGrp="1"/>
          </p:cNvSpPr>
          <p:nvPr/>
        </p:nvSpPr>
        <p:spPr>
          <a:xfrm xmlns:a="http://schemas.openxmlformats.org/drawingml/2006/main">
            <a:off x="609600" y="60960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F0FFF4"/>
                </a:solidFill>
                <a:latin typeface="Helvetica Neue"/>
                <a:ea typeface="Helvetica Neue"/>
                <a:cs typeface="Helvetica Neue"/>
              </a:defRPr>
            </a:pPr>
            <a:r>
              <a:rPr sz="2700" b="1">
                <a:solidFill>
                  <a:srgbClr val="F0FFF4"/>
                </a:solidFill>
                <a:latin typeface="Helvetica Neue"/>
                <a:ea typeface="Helvetica Neue"/>
                <a:cs typeface="Helvetica Neue"/>
              </a:rPr>
              <a:t>Open discovery with cheaper verification</a:t>
            </a:r>
          </a:p>
        </p:txBody>
      </p:sp>
      <p:sp>
        <p:nvSpPr>
          <p:cNvPr id="6" name="">
            <a:extLst xmlns:a="http://schemas.openxmlformats.org/drawingml/2006/main">
              <a:ext uri="{FF2B5EF4-FFF2-40B4-BE49-F238E27FC236}">
                <a16:creationId xmlns:a16="http://schemas.microsoft.com/office/drawing/2014/main" id="{03DD812D-1B8C-40F5-9000-4CBF05B84139}"/>
              </a:ext>
            </a:extLst>
          </p:cNvPr>
          <p:cNvSpPr>
            <a:spLocks xmlns:a="http://schemas.openxmlformats.org/drawingml/2006/main" noGrp="1"/>
          </p:cNvSpPr>
          <p:nvPr/>
        </p:nvSpPr>
        <p:spPr>
          <a:xfrm xmlns:a="http://schemas.openxmlformats.org/drawingml/2006/main">
            <a:off x="609600" y="120015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9BB7A7"/>
                </a:solidFill>
                <a:latin typeface="Helvetica Neue"/>
                <a:ea typeface="Helvetica Neue"/>
                <a:cs typeface="Helvetica Neue"/>
              </a:defRPr>
            </a:pPr>
            <a:r>
              <a:rPr sz="1350" b="0">
                <a:solidFill>
                  <a:srgbClr val="9BB7A7"/>
                </a:solidFill>
                <a:latin typeface="Helvetica Neue"/>
                <a:ea typeface="Helvetica Neue"/>
                <a:cs typeface="Helvetica Neue"/>
              </a:rPr>
              <a:t>Bittensor coordinates diverse optimization strategies while validators retain the objective oracle.</a:t>
            </a:r>
          </a:p>
        </p:txBody>
      </p:sp>
      <p:sp>
        <p:nvSpPr>
          <p:cNvPr id="7" name="">
            <a:extLst xmlns:a="http://schemas.openxmlformats.org/drawingml/2006/main">
              <a:ext uri="{FF2B5EF4-FFF2-40B4-BE49-F238E27FC236}">
                <a16:creationId xmlns:a16="http://schemas.microsoft.com/office/drawing/2014/main" id="{DF9C5B76-64BD-4CC8-AFBB-864BFDC24561}"/>
              </a:ext>
            </a:extLst>
          </p:cNvPr>
          <p:cNvSpPr>
            <a:spLocks xmlns:a="http://schemas.openxmlformats.org/drawingml/2006/main" noGrp="1"/>
          </p:cNvSpPr>
          <p:nvPr/>
        </p:nvSpPr>
        <p:spPr>
          <a:xfrm xmlns:a="http://schemas.openxmlformats.org/drawingml/2006/main">
            <a:off x="857250" y="2428875"/>
            <a:ext cx="2190750" cy="1000125"/>
          </a:xfrm>
          <a:prstGeom xmlns:a="http://schemas.openxmlformats.org/drawingml/2006/main" prst="roundRect">
            <a:avLst>
              <a:gd name="adj" fmla="val 7619"/>
            </a:avLst>
          </a:prstGeom>
          <a:solidFill xmlns:a="http://schemas.openxmlformats.org/drawingml/2006/main">
            <a:srgbClr val="0D2E21"/>
          </a:solidFill>
          <a:ln xmlns:a="http://schemas.openxmlformats.org/drawingml/2006/main" w="9525">
            <a:solidFill>
              <a:srgbClr val="1F5138"/>
            </a:solidFill>
          </a:ln>
        </p:spPr>
      </p:sp>
      <p:sp>
        <p:nvSpPr>
          <p:cNvPr id="8" name="">
            <a:extLst xmlns:a="http://schemas.openxmlformats.org/drawingml/2006/main">
              <a:ext uri="{FF2B5EF4-FFF2-40B4-BE49-F238E27FC236}">
                <a16:creationId xmlns:a16="http://schemas.microsoft.com/office/drawing/2014/main" id="{FDA239CE-D8DE-41C4-99F3-542F8647E33E}"/>
              </a:ext>
            </a:extLst>
          </p:cNvPr>
          <p:cNvSpPr>
            <a:spLocks xmlns:a="http://schemas.openxmlformats.org/drawingml/2006/main" noGrp="1"/>
          </p:cNvSpPr>
          <p:nvPr/>
        </p:nvSpPr>
        <p:spPr>
          <a:xfrm xmlns:a="http://schemas.openxmlformats.org/drawingml/2006/main">
            <a:off x="1028700" y="2562225"/>
            <a:ext cx="1847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a:solidFill>
                  <a:srgbClr val="6BFF8B"/>
                </a:solidFill>
                <a:latin typeface="Helvetica Neue"/>
                <a:ea typeface="Helvetica Neue"/>
                <a:cs typeface="Helvetica Neue"/>
              </a:defRPr>
            </a:pPr>
            <a:r>
              <a:rPr sz="1050" b="1">
                <a:solidFill>
                  <a:srgbClr val="6BFF8B"/>
                </a:solidFill>
                <a:latin typeface="Helvetica Neue"/>
                <a:ea typeface="Helvetica Neue"/>
                <a:cs typeface="Helvetica Neue"/>
              </a:rPr>
              <a:t>BUYER TASK</a:t>
            </a:r>
          </a:p>
        </p:txBody>
      </p:sp>
      <p:sp>
        <p:nvSpPr>
          <p:cNvPr id="9" name="">
            <a:extLst xmlns:a="http://schemas.openxmlformats.org/drawingml/2006/main">
              <a:ext uri="{FF2B5EF4-FFF2-40B4-BE49-F238E27FC236}">
                <a16:creationId xmlns:a16="http://schemas.microsoft.com/office/drawing/2014/main" id="{BFFA86A0-38B4-409E-BBB5-CC2E1FAD0957}"/>
              </a:ext>
            </a:extLst>
          </p:cNvPr>
          <p:cNvSpPr>
            <a:spLocks xmlns:a="http://schemas.openxmlformats.org/drawingml/2006/main" noGrp="1"/>
          </p:cNvSpPr>
          <p:nvPr/>
        </p:nvSpPr>
        <p:spPr>
          <a:xfrm xmlns:a="http://schemas.openxmlformats.org/drawingml/2006/main">
            <a:off x="1028700" y="2867025"/>
            <a:ext cx="1847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F0FFF4"/>
                </a:solidFill>
                <a:latin typeface="Helvetica Neue"/>
                <a:ea typeface="Helvetica Neue"/>
                <a:cs typeface="Helvetica Neue"/>
              </a:defRPr>
            </a:pPr>
            <a:r>
              <a:rPr sz="1125" b="0">
                <a:solidFill>
                  <a:srgbClr val="F0FFF4"/>
                </a:solidFill>
                <a:latin typeface="Helvetica Neue"/>
                <a:ea typeface="Helvetica Neue"/>
                <a:cs typeface="Helvetica Neue"/>
              </a:rPr>
              <a:t>known query + distribution</a:t>
            </a:r>
          </a:p>
        </p:txBody>
      </p:sp>
      <p:sp>
        <p:nvSpPr>
          <p:cNvPr id="10" name="">
            <a:extLst xmlns:a="http://schemas.openxmlformats.org/drawingml/2006/main">
              <a:ext uri="{FF2B5EF4-FFF2-40B4-BE49-F238E27FC236}">
                <a16:creationId xmlns:a16="http://schemas.microsoft.com/office/drawing/2014/main" id="{3F1005B8-4C34-4E67-A1C4-EFC412ADA177}"/>
              </a:ext>
            </a:extLst>
          </p:cNvPr>
          <p:cNvSpPr>
            <a:spLocks xmlns:a="http://schemas.openxmlformats.org/drawingml/2006/main" noGrp="1"/>
          </p:cNvSpPr>
          <p:nvPr/>
        </p:nvSpPr>
        <p:spPr>
          <a:xfrm xmlns:a="http://schemas.openxmlformats.org/drawingml/2006/main">
            <a:off x="3762375" y="1952625"/>
            <a:ext cx="2190750" cy="1000125"/>
          </a:xfrm>
          <a:prstGeom xmlns:a="http://schemas.openxmlformats.org/drawingml/2006/main" prst="roundRect">
            <a:avLst>
              <a:gd name="adj" fmla="val 7619"/>
            </a:avLst>
          </a:prstGeom>
          <a:solidFill xmlns:a="http://schemas.openxmlformats.org/drawingml/2006/main">
            <a:srgbClr val="0D2E21"/>
          </a:solidFill>
          <a:ln xmlns:a="http://schemas.openxmlformats.org/drawingml/2006/main" w="9525">
            <a:solidFill>
              <a:srgbClr val="1F5138"/>
            </a:solidFill>
          </a:ln>
        </p:spPr>
      </p:sp>
      <p:sp>
        <p:nvSpPr>
          <p:cNvPr id="11" name="">
            <a:extLst xmlns:a="http://schemas.openxmlformats.org/drawingml/2006/main">
              <a:ext uri="{FF2B5EF4-FFF2-40B4-BE49-F238E27FC236}">
                <a16:creationId xmlns:a16="http://schemas.microsoft.com/office/drawing/2014/main" id="{748D4222-E265-41E0-90F7-FC6E3AB07FBD}"/>
              </a:ext>
            </a:extLst>
          </p:cNvPr>
          <p:cNvSpPr>
            <a:spLocks xmlns:a="http://schemas.openxmlformats.org/drawingml/2006/main" noGrp="1"/>
          </p:cNvSpPr>
          <p:nvPr/>
        </p:nvSpPr>
        <p:spPr>
          <a:xfrm xmlns:a="http://schemas.openxmlformats.org/drawingml/2006/main">
            <a:off x="3933825" y="2085975"/>
            <a:ext cx="1847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a:solidFill>
                  <a:srgbClr val="6BFF8B"/>
                </a:solidFill>
                <a:latin typeface="Helvetica Neue"/>
                <a:ea typeface="Helvetica Neue"/>
                <a:cs typeface="Helvetica Neue"/>
              </a:defRPr>
            </a:pPr>
            <a:r>
              <a:rPr sz="1050" b="1">
                <a:solidFill>
                  <a:srgbClr val="6BFF8B"/>
                </a:solidFill>
                <a:latin typeface="Helvetica Neue"/>
                <a:ea typeface="Helvetica Neue"/>
                <a:cs typeface="Helvetica Neue"/>
              </a:rPr>
              <a:t>VALIDATOR</a:t>
            </a:r>
          </a:p>
        </p:txBody>
      </p:sp>
      <p:sp>
        <p:nvSpPr>
          <p:cNvPr id="12" name="">
            <a:extLst xmlns:a="http://schemas.openxmlformats.org/drawingml/2006/main">
              <a:ext uri="{FF2B5EF4-FFF2-40B4-BE49-F238E27FC236}">
                <a16:creationId xmlns:a16="http://schemas.microsoft.com/office/drawing/2014/main" id="{92CF2F5A-7CC6-4AAE-BBE5-BC4D57500D62}"/>
              </a:ext>
            </a:extLst>
          </p:cNvPr>
          <p:cNvSpPr>
            <a:spLocks xmlns:a="http://schemas.openxmlformats.org/drawingml/2006/main" noGrp="1"/>
          </p:cNvSpPr>
          <p:nvPr/>
        </p:nvSpPr>
        <p:spPr>
          <a:xfrm xmlns:a="http://schemas.openxmlformats.org/drawingml/2006/main">
            <a:off x="3933825" y="2390775"/>
            <a:ext cx="1847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F0FFF4"/>
                </a:solidFill>
                <a:latin typeface="Helvetica Neue"/>
                <a:ea typeface="Helvetica Neue"/>
                <a:cs typeface="Helvetica Neue"/>
              </a:defRPr>
            </a:pPr>
            <a:r>
              <a:rPr sz="1125" b="0">
                <a:solidFill>
                  <a:srgbClr val="F0FFF4"/>
                </a:solidFill>
                <a:latin typeface="Helvetica Neue"/>
                <a:ea typeface="Helvetica Neue"/>
                <a:cs typeface="Helvetica Neue"/>
              </a:rPr>
              <a:t>commit + signed fan-out</a:t>
            </a:r>
          </a:p>
        </p:txBody>
      </p:sp>
      <p:sp>
        <p:nvSpPr>
          <p:cNvPr id="13" name="">
            <a:extLst xmlns:a="http://schemas.openxmlformats.org/drawingml/2006/main">
              <a:ext uri="{FF2B5EF4-FFF2-40B4-BE49-F238E27FC236}">
                <a16:creationId xmlns:a16="http://schemas.microsoft.com/office/drawing/2014/main" id="{6379A44B-87C7-44DC-9054-E8B1E276E328}"/>
              </a:ext>
            </a:extLst>
          </p:cNvPr>
          <p:cNvSpPr>
            <a:spLocks xmlns:a="http://schemas.openxmlformats.org/drawingml/2006/main" noGrp="1"/>
          </p:cNvSpPr>
          <p:nvPr/>
        </p:nvSpPr>
        <p:spPr>
          <a:xfrm xmlns:a="http://schemas.openxmlformats.org/drawingml/2006/main">
            <a:off x="3762375" y="4048125"/>
            <a:ext cx="2190750" cy="1000125"/>
          </a:xfrm>
          <a:prstGeom xmlns:a="http://schemas.openxmlformats.org/drawingml/2006/main" prst="roundRect">
            <a:avLst>
              <a:gd name="adj" fmla="val 7619"/>
            </a:avLst>
          </a:prstGeom>
          <a:solidFill xmlns:a="http://schemas.openxmlformats.org/drawingml/2006/main">
            <a:srgbClr val="0D2E21"/>
          </a:solidFill>
          <a:ln xmlns:a="http://schemas.openxmlformats.org/drawingml/2006/main" w="9525">
            <a:solidFill>
              <a:srgbClr val="1F5138"/>
            </a:solidFill>
          </a:ln>
        </p:spPr>
      </p:sp>
      <p:sp>
        <p:nvSpPr>
          <p:cNvPr id="14" name="">
            <a:extLst xmlns:a="http://schemas.openxmlformats.org/drawingml/2006/main">
              <a:ext uri="{FF2B5EF4-FFF2-40B4-BE49-F238E27FC236}">
                <a16:creationId xmlns:a16="http://schemas.microsoft.com/office/drawing/2014/main" id="{31711E3C-D3B5-4962-BE7F-FEBB8A211B75}"/>
              </a:ext>
            </a:extLst>
          </p:cNvPr>
          <p:cNvSpPr>
            <a:spLocks xmlns:a="http://schemas.openxmlformats.org/drawingml/2006/main" noGrp="1"/>
          </p:cNvSpPr>
          <p:nvPr/>
        </p:nvSpPr>
        <p:spPr>
          <a:xfrm xmlns:a="http://schemas.openxmlformats.org/drawingml/2006/main">
            <a:off x="3933825" y="4181475"/>
            <a:ext cx="1847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a:solidFill>
                  <a:srgbClr val="6BFF8B"/>
                </a:solidFill>
                <a:latin typeface="Helvetica Neue"/>
                <a:ea typeface="Helvetica Neue"/>
                <a:cs typeface="Helvetica Neue"/>
              </a:defRPr>
            </a:pPr>
            <a:r>
              <a:rPr sz="1050" b="1">
                <a:solidFill>
                  <a:srgbClr val="6BFF8B"/>
                </a:solidFill>
                <a:latin typeface="Helvetica Neue"/>
                <a:ea typeface="Helvetica Neue"/>
                <a:cs typeface="Helvetica Neue"/>
              </a:rPr>
              <a:t>SANDBOX</a:t>
            </a:r>
          </a:p>
        </p:txBody>
      </p:sp>
      <p:sp>
        <p:nvSpPr>
          <p:cNvPr id="15" name="">
            <a:extLst xmlns:a="http://schemas.openxmlformats.org/drawingml/2006/main">
              <a:ext uri="{FF2B5EF4-FFF2-40B4-BE49-F238E27FC236}">
                <a16:creationId xmlns:a16="http://schemas.microsoft.com/office/drawing/2014/main" id="{B85AB355-A5E2-438A-9EB4-A1610B9E0C5A}"/>
              </a:ext>
            </a:extLst>
          </p:cNvPr>
          <p:cNvSpPr>
            <a:spLocks xmlns:a="http://schemas.openxmlformats.org/drawingml/2006/main" noGrp="1"/>
          </p:cNvSpPr>
          <p:nvPr/>
        </p:nvSpPr>
        <p:spPr>
          <a:xfrm xmlns:a="http://schemas.openxmlformats.org/drawingml/2006/main">
            <a:off x="3933825" y="4486275"/>
            <a:ext cx="1847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F0FFF4"/>
                </a:solidFill>
                <a:latin typeface="Helvetica Neue"/>
                <a:ea typeface="Helvetica Neue"/>
                <a:cs typeface="Helvetica Neue"/>
              </a:defRPr>
            </a:pPr>
            <a:r>
              <a:rPr sz="1125" b="0">
                <a:solidFill>
                  <a:srgbClr val="F0FFF4"/>
                </a:solidFill>
                <a:latin typeface="Helvetica Neue"/>
                <a:ea typeface="Helvetica Neue"/>
                <a:cs typeface="Helvetica Neue"/>
              </a:rPr>
              <a:t>exact replay + benchmark</a:t>
            </a:r>
          </a:p>
        </p:txBody>
      </p:sp>
      <p:sp>
        <p:nvSpPr>
          <p:cNvPr id="16" name="">
            <a:extLst xmlns:a="http://schemas.openxmlformats.org/drawingml/2006/main">
              <a:ext uri="{FF2B5EF4-FFF2-40B4-BE49-F238E27FC236}">
                <a16:creationId xmlns:a16="http://schemas.microsoft.com/office/drawing/2014/main" id="{BC7A44EC-049B-49C5-9777-78B81C15853A}"/>
              </a:ext>
            </a:extLst>
          </p:cNvPr>
          <p:cNvSpPr>
            <a:spLocks xmlns:a="http://schemas.openxmlformats.org/drawingml/2006/main" noGrp="1"/>
          </p:cNvSpPr>
          <p:nvPr/>
        </p:nvSpPr>
        <p:spPr>
          <a:xfrm xmlns:a="http://schemas.openxmlformats.org/drawingml/2006/main">
            <a:off x="6667500" y="1952625"/>
            <a:ext cx="2190750" cy="1000125"/>
          </a:xfrm>
          <a:prstGeom xmlns:a="http://schemas.openxmlformats.org/drawingml/2006/main" prst="roundRect">
            <a:avLst>
              <a:gd name="adj" fmla="val 7619"/>
            </a:avLst>
          </a:prstGeom>
          <a:solidFill xmlns:a="http://schemas.openxmlformats.org/drawingml/2006/main">
            <a:srgbClr val="0D2E21"/>
          </a:solidFill>
          <a:ln xmlns:a="http://schemas.openxmlformats.org/drawingml/2006/main" w="9525">
            <a:solidFill>
              <a:srgbClr val="1F5138"/>
            </a:solidFill>
          </a:ln>
        </p:spPr>
      </p:sp>
      <p:sp>
        <p:nvSpPr>
          <p:cNvPr id="17" name="">
            <a:extLst xmlns:a="http://schemas.openxmlformats.org/drawingml/2006/main">
              <a:ext uri="{FF2B5EF4-FFF2-40B4-BE49-F238E27FC236}">
                <a16:creationId xmlns:a16="http://schemas.microsoft.com/office/drawing/2014/main" id="{5710B12C-92E1-493E-81F0-FDCA49E63AE9}"/>
              </a:ext>
            </a:extLst>
          </p:cNvPr>
          <p:cNvSpPr>
            <a:spLocks xmlns:a="http://schemas.openxmlformats.org/drawingml/2006/main" noGrp="1"/>
          </p:cNvSpPr>
          <p:nvPr/>
        </p:nvSpPr>
        <p:spPr>
          <a:xfrm xmlns:a="http://schemas.openxmlformats.org/drawingml/2006/main">
            <a:off x="6838950" y="2085975"/>
            <a:ext cx="1847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a:solidFill>
                  <a:srgbClr val="6BFF8B"/>
                </a:solidFill>
                <a:latin typeface="Helvetica Neue"/>
                <a:ea typeface="Helvetica Neue"/>
                <a:cs typeface="Helvetica Neue"/>
              </a:defRPr>
            </a:pPr>
            <a:r>
              <a:rPr sz="1050" b="1">
                <a:solidFill>
                  <a:srgbClr val="6BFF8B"/>
                </a:solidFill>
                <a:latin typeface="Helvetica Neue"/>
                <a:ea typeface="Helvetica Neue"/>
                <a:cs typeface="Helvetica Neue"/>
              </a:rPr>
              <a:t>MINERS</a:t>
            </a:r>
          </a:p>
        </p:txBody>
      </p:sp>
      <p:sp>
        <p:nvSpPr>
          <p:cNvPr id="18" name="">
            <a:extLst xmlns:a="http://schemas.openxmlformats.org/drawingml/2006/main">
              <a:ext uri="{FF2B5EF4-FFF2-40B4-BE49-F238E27FC236}">
                <a16:creationId xmlns:a16="http://schemas.microsoft.com/office/drawing/2014/main" id="{B1AAE299-F598-42C1-89A5-FA16839E0F32}"/>
              </a:ext>
            </a:extLst>
          </p:cNvPr>
          <p:cNvSpPr>
            <a:spLocks xmlns:a="http://schemas.openxmlformats.org/drawingml/2006/main" noGrp="1"/>
          </p:cNvSpPr>
          <p:nvPr/>
        </p:nvSpPr>
        <p:spPr>
          <a:xfrm xmlns:a="http://schemas.openxmlformats.org/drawingml/2006/main">
            <a:off x="6838950" y="2390775"/>
            <a:ext cx="1847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F0FFF4"/>
                </a:solidFill>
                <a:latin typeface="Helvetica Neue"/>
                <a:ea typeface="Helvetica Neue"/>
                <a:cs typeface="Helvetica Neue"/>
              </a:defRPr>
            </a:pPr>
            <a:r>
              <a:rPr sz="1125" b="0">
                <a:solidFill>
                  <a:srgbClr val="F0FFF4"/>
                </a:solidFill>
                <a:latin typeface="Helvetica Neue"/>
                <a:ea typeface="Helvetica Neue"/>
                <a:cs typeface="Helvetica Neue"/>
              </a:rPr>
              <a:t>competing index plans</a:t>
            </a:r>
          </a:p>
        </p:txBody>
      </p:sp>
      <p:sp>
        <p:nvSpPr>
          <p:cNvPr id="19" name="">
            <a:extLst xmlns:a="http://schemas.openxmlformats.org/drawingml/2006/main">
              <a:ext uri="{FF2B5EF4-FFF2-40B4-BE49-F238E27FC236}">
                <a16:creationId xmlns:a16="http://schemas.microsoft.com/office/drawing/2014/main" id="{9CA4AA6A-D725-4C8F-92FF-40B8484CFC11}"/>
              </a:ext>
            </a:extLst>
          </p:cNvPr>
          <p:cNvSpPr>
            <a:spLocks xmlns:a="http://schemas.openxmlformats.org/drawingml/2006/main" noGrp="1"/>
          </p:cNvSpPr>
          <p:nvPr/>
        </p:nvSpPr>
        <p:spPr>
          <a:xfrm xmlns:a="http://schemas.openxmlformats.org/drawingml/2006/main">
            <a:off x="6667500" y="4048125"/>
            <a:ext cx="2190750" cy="1000125"/>
          </a:xfrm>
          <a:prstGeom xmlns:a="http://schemas.openxmlformats.org/drawingml/2006/main" prst="roundRect">
            <a:avLst>
              <a:gd name="adj" fmla="val 7619"/>
            </a:avLst>
          </a:prstGeom>
          <a:solidFill xmlns:a="http://schemas.openxmlformats.org/drawingml/2006/main">
            <a:srgbClr val="0D2E21"/>
          </a:solidFill>
          <a:ln xmlns:a="http://schemas.openxmlformats.org/drawingml/2006/main" w="9525">
            <a:solidFill>
              <a:srgbClr val="1F5138"/>
            </a:solidFill>
          </a:ln>
        </p:spPr>
      </p:sp>
      <p:sp>
        <p:nvSpPr>
          <p:cNvPr id="20" name="">
            <a:extLst xmlns:a="http://schemas.openxmlformats.org/drawingml/2006/main">
              <a:ext uri="{FF2B5EF4-FFF2-40B4-BE49-F238E27FC236}">
                <a16:creationId xmlns:a16="http://schemas.microsoft.com/office/drawing/2014/main" id="{F52F2D8F-6DA7-4C36-AB83-F81DF2947B90}"/>
              </a:ext>
            </a:extLst>
          </p:cNvPr>
          <p:cNvSpPr>
            <a:spLocks xmlns:a="http://schemas.openxmlformats.org/drawingml/2006/main" noGrp="1"/>
          </p:cNvSpPr>
          <p:nvPr/>
        </p:nvSpPr>
        <p:spPr>
          <a:xfrm xmlns:a="http://schemas.openxmlformats.org/drawingml/2006/main">
            <a:off x="6838950" y="4181475"/>
            <a:ext cx="1847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a:solidFill>
                  <a:srgbClr val="6BFF8B"/>
                </a:solidFill>
                <a:latin typeface="Helvetica Neue"/>
                <a:ea typeface="Helvetica Neue"/>
                <a:cs typeface="Helvetica Neue"/>
              </a:defRPr>
            </a:pPr>
            <a:r>
              <a:rPr sz="1050" b="1">
                <a:solidFill>
                  <a:srgbClr val="6BFF8B"/>
                </a:solidFill>
                <a:latin typeface="Helvetica Neue"/>
                <a:ea typeface="Helvetica Neue"/>
                <a:cs typeface="Helvetica Neue"/>
              </a:rPr>
              <a:t>SUBTENSOR</a:t>
            </a:r>
          </a:p>
        </p:txBody>
      </p:sp>
      <p:sp>
        <p:nvSpPr>
          <p:cNvPr id="21" name="">
            <a:extLst xmlns:a="http://schemas.openxmlformats.org/drawingml/2006/main">
              <a:ext uri="{FF2B5EF4-FFF2-40B4-BE49-F238E27FC236}">
                <a16:creationId xmlns:a16="http://schemas.microsoft.com/office/drawing/2014/main" id="{B1701A1E-18D5-468B-9996-5B8F53FAFBF9}"/>
              </a:ext>
            </a:extLst>
          </p:cNvPr>
          <p:cNvSpPr>
            <a:spLocks xmlns:a="http://schemas.openxmlformats.org/drawingml/2006/main" noGrp="1"/>
          </p:cNvSpPr>
          <p:nvPr/>
        </p:nvSpPr>
        <p:spPr>
          <a:xfrm xmlns:a="http://schemas.openxmlformats.org/drawingml/2006/main">
            <a:off x="6838950" y="4486275"/>
            <a:ext cx="1847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F0FFF4"/>
                </a:solidFill>
                <a:latin typeface="Helvetica Neue"/>
                <a:ea typeface="Helvetica Neue"/>
                <a:cs typeface="Helvetica Neue"/>
              </a:defRPr>
            </a:pPr>
            <a:r>
              <a:rPr sz="1125" b="0">
                <a:solidFill>
                  <a:srgbClr val="F0FFF4"/>
                </a:solidFill>
                <a:latin typeface="Helvetica Neue"/>
                <a:ea typeface="Helvetica Neue"/>
                <a:cs typeface="Helvetica Neue"/>
              </a:rPr>
              <a:t>capped weight update</a:t>
            </a:r>
          </a:p>
        </p:txBody>
      </p:sp>
      <p:sp>
        <p:nvSpPr>
          <p:cNvPr id="22" name="">
            <a:extLst xmlns:a="http://schemas.openxmlformats.org/drawingml/2006/main">
              <a:ext uri="{FF2B5EF4-FFF2-40B4-BE49-F238E27FC236}">
                <a16:creationId xmlns:a16="http://schemas.microsoft.com/office/drawing/2014/main" id="{D07B25C7-9203-463E-899B-CBCD9BBACE51}"/>
              </a:ext>
            </a:extLst>
          </p:cNvPr>
          <p:cNvSpPr>
            <a:spLocks xmlns:a="http://schemas.openxmlformats.org/drawingml/2006/main" noGrp="1"/>
          </p:cNvSpPr>
          <p:nvPr/>
        </p:nvSpPr>
        <p:spPr>
          <a:xfrm xmlns:a="http://schemas.openxmlformats.org/drawingml/2006/main">
            <a:off x="9572625" y="3000375"/>
            <a:ext cx="1809750" cy="1000125"/>
          </a:xfrm>
          <a:prstGeom xmlns:a="http://schemas.openxmlformats.org/drawingml/2006/main" prst="roundRect">
            <a:avLst>
              <a:gd name="adj" fmla="val 7619"/>
            </a:avLst>
          </a:prstGeom>
          <a:solidFill xmlns:a="http://schemas.openxmlformats.org/drawingml/2006/main">
            <a:srgbClr val="0D2E21"/>
          </a:solidFill>
          <a:ln xmlns:a="http://schemas.openxmlformats.org/drawingml/2006/main" w="9525">
            <a:solidFill>
              <a:srgbClr val="1F5138"/>
            </a:solidFill>
          </a:ln>
        </p:spPr>
      </p:sp>
      <p:sp>
        <p:nvSpPr>
          <p:cNvPr id="23" name="">
            <a:extLst xmlns:a="http://schemas.openxmlformats.org/drawingml/2006/main">
              <a:ext uri="{FF2B5EF4-FFF2-40B4-BE49-F238E27FC236}">
                <a16:creationId xmlns:a16="http://schemas.microsoft.com/office/drawing/2014/main" id="{3C7B54EF-2E07-4E39-83DF-328EAE8B808E}"/>
              </a:ext>
            </a:extLst>
          </p:cNvPr>
          <p:cNvSpPr>
            <a:spLocks xmlns:a="http://schemas.openxmlformats.org/drawingml/2006/main" noGrp="1"/>
          </p:cNvSpPr>
          <p:nvPr/>
        </p:nvSpPr>
        <p:spPr>
          <a:xfrm xmlns:a="http://schemas.openxmlformats.org/drawingml/2006/main">
            <a:off x="9744075" y="3133725"/>
            <a:ext cx="146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a:solidFill>
                  <a:srgbClr val="6BFF8B"/>
                </a:solidFill>
                <a:latin typeface="Helvetica Neue"/>
                <a:ea typeface="Helvetica Neue"/>
                <a:cs typeface="Helvetica Neue"/>
              </a:defRPr>
            </a:pPr>
            <a:r>
              <a:rPr sz="1050" b="1">
                <a:solidFill>
                  <a:srgbClr val="6BFF8B"/>
                </a:solidFill>
                <a:latin typeface="Helvetica Neue"/>
                <a:ea typeface="Helvetica Neue"/>
                <a:cs typeface="Helvetica Neue"/>
              </a:rPr>
              <a:t>EVIDENCE</a:t>
            </a:r>
          </a:p>
        </p:txBody>
      </p:sp>
      <p:sp>
        <p:nvSpPr>
          <p:cNvPr id="24" name="">
            <a:extLst xmlns:a="http://schemas.openxmlformats.org/drawingml/2006/main">
              <a:ext uri="{FF2B5EF4-FFF2-40B4-BE49-F238E27FC236}">
                <a16:creationId xmlns:a16="http://schemas.microsoft.com/office/drawing/2014/main" id="{B4852E42-38FD-46A8-A562-6722411B91CF}"/>
              </a:ext>
            </a:extLst>
          </p:cNvPr>
          <p:cNvSpPr>
            <a:spLocks xmlns:a="http://schemas.openxmlformats.org/drawingml/2006/main" noGrp="1"/>
          </p:cNvSpPr>
          <p:nvPr/>
        </p:nvSpPr>
        <p:spPr>
          <a:xfrm xmlns:a="http://schemas.openxmlformats.org/drawingml/2006/main">
            <a:off x="9744075" y="3438525"/>
            <a:ext cx="1466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F0FFF4"/>
                </a:solidFill>
                <a:latin typeface="Helvetica Neue"/>
                <a:ea typeface="Helvetica Neue"/>
                <a:cs typeface="Helvetica Neue"/>
              </a:defRPr>
            </a:pPr>
            <a:r>
              <a:rPr sz="1125" b="0">
                <a:solidFill>
                  <a:srgbClr val="F0FFF4"/>
                </a:solidFill>
                <a:latin typeface="Helvetica Neue"/>
                <a:ea typeface="Helvetica Neue"/>
                <a:cs typeface="Helvetica Neue"/>
              </a:rPr>
              <a:t>signed public manifest</a:t>
            </a:r>
          </a:p>
        </p:txBody>
      </p:sp>
      <p:sp>
        <p:nvSpPr>
          <p:cNvPr id="25" name="">
            <a:extLst xmlns:a="http://schemas.openxmlformats.org/drawingml/2006/main">
              <a:ext uri="{FF2B5EF4-FFF2-40B4-BE49-F238E27FC236}">
                <a16:creationId xmlns:a16="http://schemas.microsoft.com/office/drawing/2014/main" id="{94D5BF12-02D0-4FF1-8C3B-23F34BA8C86F}"/>
              </a:ext>
            </a:extLst>
          </p:cNvPr>
          <p:cNvSpPr>
            <a:spLocks xmlns:a="http://schemas.openxmlformats.org/drawingml/2006/main" noGrp="1"/>
          </p:cNvSpPr>
          <p:nvPr/>
        </p:nvSpPr>
        <p:spPr>
          <a:xfrm xmlns:a="http://schemas.openxmlformats.org/drawingml/2006/main">
            <a:off x="3048000" y="2924175"/>
            <a:ext cx="714375" cy="0"/>
          </a:xfrm>
          <a:prstGeom xmlns:a="http://schemas.openxmlformats.org/drawingml/2006/main" prst="line">
            <a:avLst/>
          </a:prstGeom>
          <a:noFill xmlns:a="http://schemas.openxmlformats.org/drawingml/2006/main"/>
          <a:ln xmlns:a="http://schemas.openxmlformats.org/drawingml/2006/main" w="28575">
            <a:solidFill>
              <a:srgbClr val="31D66B"/>
            </a:solidFill>
          </a:ln>
        </p:spPr>
      </p:sp>
      <p:sp>
        <p:nvSpPr>
          <p:cNvPr id="26" name="">
            <a:extLst xmlns:a="http://schemas.openxmlformats.org/drawingml/2006/main">
              <a:ext uri="{FF2B5EF4-FFF2-40B4-BE49-F238E27FC236}">
                <a16:creationId xmlns:a16="http://schemas.microsoft.com/office/drawing/2014/main" id="{7647D696-5A67-4EBF-9FC8-C34D38EED182}"/>
              </a:ext>
            </a:extLst>
          </p:cNvPr>
          <p:cNvSpPr>
            <a:spLocks xmlns:a="http://schemas.openxmlformats.org/drawingml/2006/main" noGrp="1"/>
          </p:cNvSpPr>
          <p:nvPr/>
        </p:nvSpPr>
        <p:spPr>
          <a:xfrm xmlns:a="http://schemas.openxmlformats.org/drawingml/2006/main">
            <a:off x="5953125" y="2447925"/>
            <a:ext cx="714375" cy="0"/>
          </a:xfrm>
          <a:prstGeom xmlns:a="http://schemas.openxmlformats.org/drawingml/2006/main" prst="line">
            <a:avLst/>
          </a:prstGeom>
          <a:noFill xmlns:a="http://schemas.openxmlformats.org/drawingml/2006/main"/>
          <a:ln xmlns:a="http://schemas.openxmlformats.org/drawingml/2006/main" w="28575">
            <a:solidFill>
              <a:srgbClr val="31D66B"/>
            </a:solidFill>
          </a:ln>
        </p:spPr>
      </p:sp>
      <p:sp>
        <p:nvSpPr>
          <p:cNvPr id="27" name="">
            <a:extLst xmlns:a="http://schemas.openxmlformats.org/drawingml/2006/main">
              <a:ext uri="{FF2B5EF4-FFF2-40B4-BE49-F238E27FC236}">
                <a16:creationId xmlns:a16="http://schemas.microsoft.com/office/drawing/2014/main" id="{FEAD3F22-911D-47E2-B376-C7AF7DDF2DBE}"/>
              </a:ext>
            </a:extLst>
          </p:cNvPr>
          <p:cNvSpPr>
            <a:spLocks xmlns:a="http://schemas.openxmlformats.org/drawingml/2006/main" noGrp="1"/>
          </p:cNvSpPr>
          <p:nvPr/>
        </p:nvSpPr>
        <p:spPr>
          <a:xfrm xmlns:a="http://schemas.openxmlformats.org/drawingml/2006/main">
            <a:off x="7762875" y="2952750"/>
            <a:ext cx="0" cy="1095375"/>
          </a:xfrm>
          <a:prstGeom xmlns:a="http://schemas.openxmlformats.org/drawingml/2006/main" prst="line">
            <a:avLst/>
          </a:prstGeom>
          <a:noFill xmlns:a="http://schemas.openxmlformats.org/drawingml/2006/main"/>
          <a:ln xmlns:a="http://schemas.openxmlformats.org/drawingml/2006/main" w="28575">
            <a:solidFill>
              <a:srgbClr val="31D66B"/>
            </a:solidFill>
          </a:ln>
        </p:spPr>
      </p:sp>
      <p:sp>
        <p:nvSpPr>
          <p:cNvPr id="28" name="">
            <a:extLst xmlns:a="http://schemas.openxmlformats.org/drawingml/2006/main">
              <a:ext uri="{FF2B5EF4-FFF2-40B4-BE49-F238E27FC236}">
                <a16:creationId xmlns:a16="http://schemas.microsoft.com/office/drawing/2014/main" id="{CBE1842A-63D7-40A3-94E0-8E93B15F5C6E}"/>
              </a:ext>
            </a:extLst>
          </p:cNvPr>
          <p:cNvSpPr>
            <a:spLocks xmlns:a="http://schemas.openxmlformats.org/drawingml/2006/main" noGrp="1"/>
          </p:cNvSpPr>
          <p:nvPr/>
        </p:nvSpPr>
        <p:spPr>
          <a:xfrm xmlns:a="http://schemas.openxmlformats.org/drawingml/2006/main">
            <a:off x="4857750" y="2952750"/>
            <a:ext cx="0" cy="1095375"/>
          </a:xfrm>
          <a:prstGeom xmlns:a="http://schemas.openxmlformats.org/drawingml/2006/main" prst="line">
            <a:avLst/>
          </a:prstGeom>
          <a:noFill xmlns:a="http://schemas.openxmlformats.org/drawingml/2006/main"/>
          <a:ln xmlns:a="http://schemas.openxmlformats.org/drawingml/2006/main" w="28575">
            <a:solidFill>
              <a:srgbClr val="31D66B"/>
            </a:solidFill>
          </a:ln>
        </p:spPr>
      </p:sp>
      <p:sp>
        <p:nvSpPr>
          <p:cNvPr id="29" name="">
            <a:extLst xmlns:a="http://schemas.openxmlformats.org/drawingml/2006/main">
              <a:ext uri="{FF2B5EF4-FFF2-40B4-BE49-F238E27FC236}">
                <a16:creationId xmlns:a16="http://schemas.microsoft.com/office/drawing/2014/main" id="{F9984916-55F4-4168-8D50-5E663929EDB9}"/>
              </a:ext>
            </a:extLst>
          </p:cNvPr>
          <p:cNvSpPr>
            <a:spLocks xmlns:a="http://schemas.openxmlformats.org/drawingml/2006/main" noGrp="1"/>
          </p:cNvSpPr>
          <p:nvPr/>
        </p:nvSpPr>
        <p:spPr>
          <a:xfrm xmlns:a="http://schemas.openxmlformats.org/drawingml/2006/main">
            <a:off x="5953125" y="4543425"/>
            <a:ext cx="714375" cy="0"/>
          </a:xfrm>
          <a:prstGeom xmlns:a="http://schemas.openxmlformats.org/drawingml/2006/main" prst="line">
            <a:avLst/>
          </a:prstGeom>
          <a:noFill xmlns:a="http://schemas.openxmlformats.org/drawingml/2006/main"/>
          <a:ln xmlns:a="http://schemas.openxmlformats.org/drawingml/2006/main" w="28575">
            <a:solidFill>
              <a:srgbClr val="31D66B"/>
            </a:solidFill>
          </a:ln>
        </p:spPr>
      </p:sp>
      <p:sp>
        <p:nvSpPr>
          <p:cNvPr id="30" name="">
            <a:extLst xmlns:a="http://schemas.openxmlformats.org/drawingml/2006/main">
              <a:ext uri="{FF2B5EF4-FFF2-40B4-BE49-F238E27FC236}">
                <a16:creationId xmlns:a16="http://schemas.microsoft.com/office/drawing/2014/main" id="{3DB36E0B-2C79-4C11-8AE1-A49CF84F0FDC}"/>
              </a:ext>
            </a:extLst>
          </p:cNvPr>
          <p:cNvSpPr>
            <a:spLocks xmlns:a="http://schemas.openxmlformats.org/drawingml/2006/main" noGrp="1"/>
          </p:cNvSpPr>
          <p:nvPr/>
        </p:nvSpPr>
        <p:spPr>
          <a:xfrm xmlns:a="http://schemas.openxmlformats.org/drawingml/2006/main">
            <a:off x="8858250" y="2447925"/>
            <a:ext cx="381000" cy="0"/>
          </a:xfrm>
          <a:prstGeom xmlns:a="http://schemas.openxmlformats.org/drawingml/2006/main" prst="line">
            <a:avLst/>
          </a:prstGeom>
          <a:noFill xmlns:a="http://schemas.openxmlformats.org/drawingml/2006/main"/>
          <a:ln xmlns:a="http://schemas.openxmlformats.org/drawingml/2006/main" w="28575">
            <a:solidFill>
              <a:srgbClr val="31D66B"/>
            </a:solidFill>
          </a:ln>
        </p:spPr>
      </p:sp>
      <p:sp>
        <p:nvSpPr>
          <p:cNvPr id="31" name="">
            <a:extLst xmlns:a="http://schemas.openxmlformats.org/drawingml/2006/main">
              <a:ext uri="{FF2B5EF4-FFF2-40B4-BE49-F238E27FC236}">
                <a16:creationId xmlns:a16="http://schemas.microsoft.com/office/drawing/2014/main" id="{A8B0D205-676A-4AAF-9010-49C370293E29}"/>
              </a:ext>
            </a:extLst>
          </p:cNvPr>
          <p:cNvSpPr>
            <a:spLocks xmlns:a="http://schemas.openxmlformats.org/drawingml/2006/main" noGrp="1"/>
          </p:cNvSpPr>
          <p:nvPr/>
        </p:nvSpPr>
        <p:spPr>
          <a:xfrm xmlns:a="http://schemas.openxmlformats.org/drawingml/2006/main">
            <a:off x="8858250" y="4543425"/>
            <a:ext cx="381000" cy="0"/>
          </a:xfrm>
          <a:prstGeom xmlns:a="http://schemas.openxmlformats.org/drawingml/2006/main" prst="line">
            <a:avLst/>
          </a:prstGeom>
          <a:noFill xmlns:a="http://schemas.openxmlformats.org/drawingml/2006/main"/>
          <a:ln xmlns:a="http://schemas.openxmlformats.org/drawingml/2006/main" w="28575">
            <a:solidFill>
              <a:srgbClr val="31D66B"/>
            </a:solidFill>
          </a:ln>
        </p:spPr>
      </p:sp>
      <p:sp>
        <p:nvSpPr>
          <p:cNvPr id="32" name="">
            <a:extLst xmlns:a="http://schemas.openxmlformats.org/drawingml/2006/main">
              <a:ext uri="{FF2B5EF4-FFF2-40B4-BE49-F238E27FC236}">
                <a16:creationId xmlns:a16="http://schemas.microsoft.com/office/drawing/2014/main" id="{4133B329-4FF7-4BE6-AE2B-6B46EAC14721}"/>
              </a:ext>
            </a:extLst>
          </p:cNvPr>
          <p:cNvSpPr>
            <a:spLocks xmlns:a="http://schemas.openxmlformats.org/drawingml/2006/main" noGrp="1"/>
          </p:cNvSpPr>
          <p:nvPr/>
        </p:nvSpPr>
        <p:spPr>
          <a:xfrm xmlns:a="http://schemas.openxmlformats.org/drawingml/2006/main">
            <a:off x="9239250" y="2447925"/>
            <a:ext cx="0" cy="2095500"/>
          </a:xfrm>
          <a:prstGeom xmlns:a="http://schemas.openxmlformats.org/drawingml/2006/main" prst="line">
            <a:avLst/>
          </a:prstGeom>
          <a:noFill xmlns:a="http://schemas.openxmlformats.org/drawingml/2006/main"/>
          <a:ln xmlns:a="http://schemas.openxmlformats.org/drawingml/2006/main" w="28575">
            <a:solidFill>
              <a:srgbClr val="31D66B"/>
            </a:solidFill>
          </a:ln>
        </p:spPr>
      </p:sp>
      <p:sp>
        <p:nvSpPr>
          <p:cNvPr id="33" name="">
            <a:extLst xmlns:a="http://schemas.openxmlformats.org/drawingml/2006/main">
              <a:ext uri="{FF2B5EF4-FFF2-40B4-BE49-F238E27FC236}">
                <a16:creationId xmlns:a16="http://schemas.microsoft.com/office/drawing/2014/main" id="{C23E88B0-8CEA-496E-B4E9-F04CDD7F0336}"/>
              </a:ext>
            </a:extLst>
          </p:cNvPr>
          <p:cNvSpPr>
            <a:spLocks xmlns:a="http://schemas.openxmlformats.org/drawingml/2006/main" noGrp="1"/>
          </p:cNvSpPr>
          <p:nvPr/>
        </p:nvSpPr>
        <p:spPr>
          <a:xfrm xmlns:a="http://schemas.openxmlformats.org/drawingml/2006/main">
            <a:off x="9239250" y="3495675"/>
            <a:ext cx="333375" cy="0"/>
          </a:xfrm>
          <a:prstGeom xmlns:a="http://schemas.openxmlformats.org/drawingml/2006/main" prst="line">
            <a:avLst/>
          </a:prstGeom>
          <a:noFill xmlns:a="http://schemas.openxmlformats.org/drawingml/2006/main"/>
          <a:ln xmlns:a="http://schemas.openxmlformats.org/drawingml/2006/main" w="28575">
            <a:solidFill>
              <a:srgbClr val="31D66B"/>
            </a:solidFill>
          </a:ln>
        </p:spPr>
      </p:sp>
      <p:sp>
        <p:nvSpPr>
          <p:cNvPr id="34" name="">
            <a:extLst xmlns:a="http://schemas.openxmlformats.org/drawingml/2006/main">
              <a:ext uri="{FF2B5EF4-FFF2-40B4-BE49-F238E27FC236}">
                <a16:creationId xmlns:a16="http://schemas.microsoft.com/office/drawing/2014/main" id="{67D63A0F-736C-4CF6-ABE6-77E98F70EC01}"/>
              </a:ext>
            </a:extLst>
          </p:cNvPr>
          <p:cNvSpPr>
            <a:spLocks xmlns:a="http://schemas.openxmlformats.org/drawingml/2006/main" noGrp="1"/>
          </p:cNvSpPr>
          <p:nvPr/>
        </p:nvSpPr>
        <p:spPr>
          <a:xfrm xmlns:a="http://schemas.openxmlformats.org/drawingml/2006/main">
            <a:off x="857250" y="5619750"/>
            <a:ext cx="1019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F4D35E"/>
                </a:solidFill>
                <a:latin typeface="Helvetica Neue"/>
                <a:ea typeface="Helvetica Neue"/>
                <a:cs typeface="Helvetica Neue"/>
              </a:defRPr>
            </a:pPr>
            <a:r>
              <a:rPr sz="1500" b="1">
                <a:solidFill>
                  <a:srgbClr val="F4D35E"/>
                </a:solidFill>
                <a:latin typeface="Helvetica Neue"/>
                <a:ea typeface="Helvetica Neue"/>
                <a:cs typeface="Helvetica Neue"/>
              </a:rPr>
              <a:t>Miners may use rules, search, learned systems, or engine expertise. Validators pay only for replayable improvement.</a:t>
            </a:r>
          </a:p>
        </p:txBody>
      </p:sp>
    </p:spTree>
    <p:extLst>
      <p:ext uri="{BB962C8B-B14F-4D97-AF65-F5344CB8AC3E}">
        <p14:creationId xmlns:p14="http://schemas.microsoft.com/office/powerpoint/2010/main" val="1629846248"/>
      </p:ext>
    </p:extLst>
  </p:cSld>
</p:sld>
</file>

<file path=ppt/slides/slide9.xml><?xml version="1.0" encoding="utf-8"?>
<p:sld xmlns:p="http://schemas.openxmlformats.org/presentationml/2006/main">
  <p:cSld>
    <p:bg>
      <p:bgPr>
        <a:solidFill xmlns:a="http://schemas.openxmlformats.org/drawingml/2006/main">
          <a:srgbClr val="03110C"/>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FE7174CB-DBED-454F-BED1-FAC8711C387F}"/>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1">
                <a:solidFill>
                  <a:srgbClr val="6BFF8B"/>
                </a:solidFill>
                <a:latin typeface="Helvetica Neue"/>
                <a:ea typeface="Helvetica Neue"/>
                <a:cs typeface="Helvetica Neue"/>
              </a:defRPr>
            </a:pPr>
            <a:r>
              <a:rPr sz="900" b="1">
                <a:solidFill>
                  <a:srgbClr val="6BFF8B"/>
                </a:solidFill>
                <a:latin typeface="Helvetica Neue"/>
                <a:ea typeface="Helvetica Neue"/>
                <a:cs typeface="Helvetica Neue"/>
              </a:rPr>
              <a:t>PATH TO TESTNET</a:t>
            </a:r>
          </a:p>
        </p:txBody>
      </p:sp>
      <p:sp>
        <p:nvSpPr>
          <p:cNvPr id="2" name="">
            <a:extLst xmlns:a="http://schemas.openxmlformats.org/drawingml/2006/main">
              <a:ext uri="{FF2B5EF4-FFF2-40B4-BE49-F238E27FC236}">
                <a16:creationId xmlns:a16="http://schemas.microsoft.com/office/drawing/2014/main" id="{02BA2C42-B3B4-402D-BA10-762B4B437A5D}"/>
              </a:ext>
            </a:extLst>
          </p:cNvPr>
          <p:cNvSpPr>
            <a:spLocks xmlns:a="http://schemas.openxmlformats.org/drawingml/2006/main" noGrp="1"/>
          </p:cNvSpPr>
          <p:nvPr/>
        </p:nvSpPr>
        <p:spPr>
          <a:xfrm xmlns:a="http://schemas.openxmlformats.org/drawingml/2006/main">
            <a:off x="11239500" y="266700"/>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00" b="0">
                <a:solidFill>
                  <a:srgbClr val="9BB7A7"/>
                </a:solidFill>
                <a:latin typeface="Helvetica Neue"/>
                <a:ea typeface="Helvetica Neue"/>
                <a:cs typeface="Helvetica Neue"/>
              </a:defRPr>
            </a:pPr>
            <a:r>
              <a:rPr sz="900" b="0">
                <a:solidFill>
                  <a:srgbClr val="9BB7A7"/>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0261D65E-1C36-42C2-92E7-42A74FC2A9A9}"/>
              </a:ext>
            </a:extLst>
          </p:cNvPr>
          <p:cNvSpPr>
            <a:spLocks xmlns:a="http://schemas.openxmlformats.org/drawingml/2006/main" noGrp="1"/>
          </p:cNvSpPr>
          <p:nvPr/>
        </p:nvSpPr>
        <p:spPr>
          <a:xfrm xmlns:a="http://schemas.openxmlformats.org/drawingml/2006/main">
            <a:off x="609600" y="6534150"/>
            <a:ext cx="10972800" cy="0"/>
          </a:xfrm>
          <a:prstGeom xmlns:a="http://schemas.openxmlformats.org/drawingml/2006/main" prst="line">
            <a:avLst/>
          </a:prstGeom>
          <a:noFill xmlns:a="http://schemas.openxmlformats.org/drawingml/2006/main"/>
          <a:ln xmlns:a="http://schemas.openxmlformats.org/drawingml/2006/main" w="9525">
            <a:solidFill>
              <a:srgbClr val="1F5138"/>
            </a:solidFill>
          </a:ln>
        </p:spPr>
      </p:sp>
      <p:sp>
        <p:nvSpPr>
          <p:cNvPr id="4" name="">
            <a:extLst xmlns:a="http://schemas.openxmlformats.org/drawingml/2006/main">
              <a:ext uri="{FF2B5EF4-FFF2-40B4-BE49-F238E27FC236}">
                <a16:creationId xmlns:a16="http://schemas.microsoft.com/office/drawing/2014/main" id="{D0AB319D-958E-42EC-9AB4-8F9693ADE154}"/>
              </a:ext>
            </a:extLst>
          </p:cNvPr>
          <p:cNvSpPr>
            <a:spLocks xmlns:a="http://schemas.openxmlformats.org/drawingml/2006/main" noGrp="1"/>
          </p:cNvSpPr>
          <p:nvPr/>
        </p:nvSpPr>
        <p:spPr>
          <a:xfrm xmlns:a="http://schemas.openxmlformats.org/drawingml/2006/main">
            <a:off x="609600" y="657225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675" b="0">
                <a:solidFill>
                  <a:srgbClr val="9BB7A7"/>
                </a:solidFill>
                <a:latin typeface="Helvetica Neue"/>
                <a:ea typeface="Helvetica Neue"/>
                <a:cs typeface="Helvetica Neue"/>
              </a:defRPr>
            </a:pPr>
            <a:r>
              <a:rPr sz="675" b="0">
                <a:solidFill>
                  <a:srgbClr val="9BB7A7"/>
                </a:solidFill>
                <a:latin typeface="Helvetica Neue"/>
                <a:ea typeface="Helvetica Neue"/>
                <a:cs typeface="Helvetica Neue"/>
              </a:rPr>
              <a:t>PlanRace · Bittensor Global Subnet Hackathon · Checkpoint draft</a:t>
            </a:r>
          </a:p>
        </p:txBody>
      </p:sp>
      <p:sp>
        <p:nvSpPr>
          <p:cNvPr id="5" name="">
            <a:extLst xmlns:a="http://schemas.openxmlformats.org/drawingml/2006/main">
              <a:ext uri="{FF2B5EF4-FFF2-40B4-BE49-F238E27FC236}">
                <a16:creationId xmlns:a16="http://schemas.microsoft.com/office/drawing/2014/main" id="{0BE93C63-E2C1-4AC7-8283-FBFD68D02F08}"/>
              </a:ext>
            </a:extLst>
          </p:cNvPr>
          <p:cNvSpPr>
            <a:spLocks xmlns:a="http://schemas.openxmlformats.org/drawingml/2006/main" noGrp="1"/>
          </p:cNvSpPr>
          <p:nvPr/>
        </p:nvSpPr>
        <p:spPr>
          <a:xfrm xmlns:a="http://schemas.openxmlformats.org/drawingml/2006/main">
            <a:off x="609600" y="60960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F0FFF4"/>
                </a:solidFill>
                <a:latin typeface="Helvetica Neue"/>
                <a:ea typeface="Helvetica Neue"/>
                <a:cs typeface="Helvetica Neue"/>
              </a:defRPr>
            </a:pPr>
            <a:r>
              <a:rPr sz="2700" b="1">
                <a:solidFill>
                  <a:srgbClr val="F0FFF4"/>
                </a:solidFill>
                <a:latin typeface="Helvetica Neue"/>
                <a:ea typeface="Helvetica Neue"/>
                <a:cs typeface="Helvetica Neue"/>
              </a:rPr>
              <a:t>A narrow wedge with explicit proof gates</a:t>
            </a:r>
          </a:p>
        </p:txBody>
      </p:sp>
      <p:sp>
        <p:nvSpPr>
          <p:cNvPr id="6" name="">
            <a:extLst xmlns:a="http://schemas.openxmlformats.org/drawingml/2006/main">
              <a:ext uri="{FF2B5EF4-FFF2-40B4-BE49-F238E27FC236}">
                <a16:creationId xmlns:a16="http://schemas.microsoft.com/office/drawing/2014/main" id="{474DA55F-4139-4F9B-9385-5CE4CA7FC7A1}"/>
              </a:ext>
            </a:extLst>
          </p:cNvPr>
          <p:cNvSpPr>
            <a:spLocks xmlns:a="http://schemas.openxmlformats.org/drawingml/2006/main" noGrp="1"/>
          </p:cNvSpPr>
          <p:nvPr/>
        </p:nvSpPr>
        <p:spPr>
          <a:xfrm xmlns:a="http://schemas.openxmlformats.org/drawingml/2006/main">
            <a:off x="609600" y="120015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9BB7A7"/>
                </a:solidFill>
                <a:latin typeface="Helvetica Neue"/>
                <a:ea typeface="Helvetica Neue"/>
                <a:cs typeface="Helvetica Neue"/>
              </a:defRPr>
            </a:pPr>
            <a:r>
              <a:rPr sz="1350" b="0">
                <a:solidFill>
                  <a:srgbClr val="9BB7A7"/>
                </a:solidFill>
                <a:latin typeface="Helvetica Neue"/>
                <a:ea typeface="Helvetica Neue"/>
                <a:cs typeface="Helvetica Neue"/>
              </a:rPr>
              <a:t>The local mechanism works. Buyer demand, independent operators, and production engines remain open questions.</a:t>
            </a:r>
          </a:p>
        </p:txBody>
      </p:sp>
      <p:sp>
        <p:nvSpPr>
          <p:cNvPr id="7" name="">
            <a:extLst xmlns:a="http://schemas.openxmlformats.org/drawingml/2006/main">
              <a:ext uri="{FF2B5EF4-FFF2-40B4-BE49-F238E27FC236}">
                <a16:creationId xmlns:a16="http://schemas.microsoft.com/office/drawing/2014/main" id="{214BCEEA-8D0F-4C6B-ACEB-E491036E4B99}"/>
              </a:ext>
            </a:extLst>
          </p:cNvPr>
          <p:cNvSpPr>
            <a:spLocks xmlns:a="http://schemas.openxmlformats.org/drawingml/2006/main" noGrp="1"/>
          </p:cNvSpPr>
          <p:nvPr/>
        </p:nvSpPr>
        <p:spPr>
          <a:xfrm xmlns:a="http://schemas.openxmlformats.org/drawingml/2006/main">
            <a:off x="647700" y="2095500"/>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6BFF8B"/>
                </a:solidFill>
                <a:latin typeface="Helvetica Neue"/>
                <a:ea typeface="Helvetica Neue"/>
                <a:cs typeface="Helvetica Neue"/>
              </a:defRPr>
            </a:pPr>
            <a:r>
              <a:rPr sz="1800" b="1">
                <a:solidFill>
                  <a:srgbClr val="6BFF8B"/>
                </a:solidFill>
                <a:latin typeface="Helvetica Neue"/>
                <a:ea typeface="Helvetica Neue"/>
                <a:cs typeface="Helvetica Neue"/>
              </a:rPr>
              <a:t>Initial buyer need</a:t>
            </a:r>
          </a:p>
        </p:txBody>
      </p:sp>
      <p:sp>
        <p:nvSpPr>
          <p:cNvPr id="8" name="">
            <a:extLst xmlns:a="http://schemas.openxmlformats.org/drawingml/2006/main">
              <a:ext uri="{FF2B5EF4-FFF2-40B4-BE49-F238E27FC236}">
                <a16:creationId xmlns:a16="http://schemas.microsoft.com/office/drawing/2014/main" id="{E75B32B8-EA44-4CC8-A101-2ACBC6071AC3}"/>
              </a:ext>
            </a:extLst>
          </p:cNvPr>
          <p:cNvSpPr>
            <a:spLocks xmlns:a="http://schemas.openxmlformats.org/drawingml/2006/main" noGrp="1"/>
          </p:cNvSpPr>
          <p:nvPr/>
        </p:nvSpPr>
        <p:spPr>
          <a:xfrm xmlns:a="http://schemas.openxmlformats.org/drawingml/2006/main">
            <a:off x="647700" y="2609850"/>
            <a:ext cx="3714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a:solidFill>
                  <a:srgbClr val="F0FFF4"/>
                </a:solidFill>
                <a:latin typeface="Helvetica Neue"/>
                <a:ea typeface="Helvetica Neue"/>
                <a:cs typeface="Helvetica Neue"/>
              </a:defRPr>
            </a:pPr>
            <a:r>
              <a:rPr sz="2100" b="1">
                <a:solidFill>
                  <a:srgbClr val="F0FFF4"/>
                </a:solidFill>
                <a:latin typeface="Helvetica Neue"/>
                <a:ea typeface="Helvetica Neue"/>
                <a:cs typeface="Helvetica Neue"/>
              </a:rPr>
              <a:t>Release regressions</a:t>
            </a:r>
          </a:p>
          <a:p xmlns:a="http://schemas.openxmlformats.org/drawingml/2006/main">
            <a:pPr algn="l">
              <a:defRPr sz="2100" b="1">
                <a:solidFill>
                  <a:srgbClr val="F0FFF4"/>
                </a:solidFill>
                <a:latin typeface="Helvetica Neue"/>
                <a:ea typeface="Helvetica Neue"/>
                <a:cs typeface="Helvetica Neue"/>
              </a:defRPr>
            </a:pPr>
            <a:r>
              <a:rPr sz="2100" b="1">
                <a:solidFill>
                  <a:srgbClr val="F0FFF4"/>
                </a:solidFill>
                <a:latin typeface="Helvetica Neue"/>
                <a:ea typeface="Helvetica Neue"/>
                <a:cs typeface="Helvetica Neue"/>
              </a:rPr>
              <a:t>SaaS query cost</a:t>
            </a:r>
          </a:p>
          <a:p xmlns:a="http://schemas.openxmlformats.org/drawingml/2006/main">
            <a:pPr algn="l">
              <a:defRPr sz="2100" b="1">
                <a:solidFill>
                  <a:srgbClr val="F0FFF4"/>
                </a:solidFill>
                <a:latin typeface="Helvetica Neue"/>
                <a:ea typeface="Helvetica Neue"/>
                <a:cs typeface="Helvetica Neue"/>
              </a:defRPr>
            </a:pPr>
            <a:r>
              <a:rPr sz="2100" b="1">
                <a:solidFill>
                  <a:srgbClr val="F0FFF4"/>
                </a:solidFill>
                <a:latin typeface="Helvetica Neue"/>
                <a:ea typeface="Helvetica Neue"/>
                <a:cs typeface="Helvetica Neue"/>
              </a:rPr>
              <a:t>Analytical pipeline tuning</a:t>
            </a:r>
          </a:p>
        </p:txBody>
      </p:sp>
      <p:sp>
        <p:nvSpPr>
          <p:cNvPr id="9" name="">
            <a:extLst xmlns:a="http://schemas.openxmlformats.org/drawingml/2006/main">
              <a:ext uri="{FF2B5EF4-FFF2-40B4-BE49-F238E27FC236}">
                <a16:creationId xmlns:a16="http://schemas.microsoft.com/office/drawing/2014/main" id="{85AD070A-6688-4042-8109-FEDA8FE1B129}"/>
              </a:ext>
            </a:extLst>
          </p:cNvPr>
          <p:cNvSpPr>
            <a:spLocks xmlns:a="http://schemas.openxmlformats.org/drawingml/2006/main" noGrp="1"/>
          </p:cNvSpPr>
          <p:nvPr/>
        </p:nvSpPr>
        <p:spPr>
          <a:xfrm xmlns:a="http://schemas.openxmlformats.org/drawingml/2006/main">
            <a:off x="647700" y="4286250"/>
            <a:ext cx="3905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9BB7A7"/>
                </a:solidFill>
                <a:latin typeface="Helvetica Neue"/>
                <a:ea typeface="Helvetica Neue"/>
                <a:cs typeface="Helvetica Neue"/>
              </a:defRPr>
            </a:pPr>
            <a:r>
              <a:rPr sz="1275" b="0">
                <a:solidFill>
                  <a:srgbClr val="9BB7A7"/>
                </a:solidFill>
                <a:latin typeface="Helvetica Neue"/>
                <a:ea typeface="Helvetica Neue"/>
                <a:cs typeface="Helvetica Neue"/>
              </a:rPr>
              <a:t>Centralized advisors still win when privileged telemetry and operational integration matter most.</a:t>
            </a:r>
          </a:p>
        </p:txBody>
      </p:sp>
      <p:sp>
        <p:nvSpPr>
          <p:cNvPr id="10" name="">
            <a:extLst xmlns:a="http://schemas.openxmlformats.org/drawingml/2006/main">
              <a:ext uri="{FF2B5EF4-FFF2-40B4-BE49-F238E27FC236}">
                <a16:creationId xmlns:a16="http://schemas.microsoft.com/office/drawing/2014/main" id="{35E02FB2-31CC-46DB-B531-13F931E5788E}"/>
              </a:ext>
            </a:extLst>
          </p:cNvPr>
          <p:cNvSpPr>
            <a:spLocks xmlns:a="http://schemas.openxmlformats.org/drawingml/2006/main" noGrp="1"/>
          </p:cNvSpPr>
          <p:nvPr/>
        </p:nvSpPr>
        <p:spPr>
          <a:xfrm xmlns:a="http://schemas.openxmlformats.org/drawingml/2006/main">
            <a:off x="4953000" y="2000250"/>
            <a:ext cx="0" cy="3619500"/>
          </a:xfrm>
          <a:prstGeom xmlns:a="http://schemas.openxmlformats.org/drawingml/2006/main" prst="line">
            <a:avLst/>
          </a:prstGeom>
          <a:noFill xmlns:a="http://schemas.openxmlformats.org/drawingml/2006/main"/>
          <a:ln xmlns:a="http://schemas.openxmlformats.org/drawingml/2006/main" w="19050">
            <a:solidFill>
              <a:srgbClr val="1F5138"/>
            </a:solidFill>
          </a:ln>
        </p:spPr>
      </p:sp>
      <p:sp>
        <p:nvSpPr>
          <p:cNvPr id="11" name="">
            <a:extLst xmlns:a="http://schemas.openxmlformats.org/drawingml/2006/main">
              <a:ext uri="{FF2B5EF4-FFF2-40B4-BE49-F238E27FC236}">
                <a16:creationId xmlns:a16="http://schemas.microsoft.com/office/drawing/2014/main" id="{C9D33295-2351-4625-ADCC-36E4D3F03401}"/>
              </a:ext>
            </a:extLst>
          </p:cNvPr>
          <p:cNvSpPr>
            <a:spLocks xmlns:a="http://schemas.openxmlformats.org/drawingml/2006/main" noGrp="1"/>
          </p:cNvSpPr>
          <p:nvPr/>
        </p:nvSpPr>
        <p:spPr>
          <a:xfrm xmlns:a="http://schemas.openxmlformats.org/drawingml/2006/main">
            <a:off x="5476875" y="1952625"/>
            <a:ext cx="819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1">
                <a:solidFill>
                  <a:srgbClr val="6BFF8B"/>
                </a:solidFill>
                <a:latin typeface="Helvetica Neue"/>
                <a:ea typeface="Helvetica Neue"/>
                <a:cs typeface="Helvetica Neue"/>
              </a:defRPr>
            </a:pPr>
            <a:r>
              <a:rPr sz="900" b="1">
                <a:solidFill>
                  <a:srgbClr val="6BFF8B"/>
                </a:solidFill>
                <a:latin typeface="Helvetica Neue"/>
                <a:ea typeface="Helvetica Neue"/>
                <a:cs typeface="Helvetica Neue"/>
              </a:rPr>
              <a:t>NOW</a:t>
            </a:r>
          </a:p>
        </p:txBody>
      </p:sp>
      <p:sp>
        <p:nvSpPr>
          <p:cNvPr id="12" name="">
            <a:extLst xmlns:a="http://schemas.openxmlformats.org/drawingml/2006/main">
              <a:ext uri="{FF2B5EF4-FFF2-40B4-BE49-F238E27FC236}">
                <a16:creationId xmlns:a16="http://schemas.microsoft.com/office/drawing/2014/main" id="{8C832564-7BA7-480E-A528-034BA91CBD86}"/>
              </a:ext>
            </a:extLst>
          </p:cNvPr>
          <p:cNvSpPr>
            <a:spLocks xmlns:a="http://schemas.openxmlformats.org/drawingml/2006/main" noGrp="1"/>
          </p:cNvSpPr>
          <p:nvPr/>
        </p:nvSpPr>
        <p:spPr>
          <a:xfrm xmlns:a="http://schemas.openxmlformats.org/drawingml/2006/main">
            <a:off x="6477000" y="1914525"/>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6BFF8B"/>
                </a:solidFill>
                <a:latin typeface="Helvetica Neue"/>
                <a:ea typeface="Helvetica Neue"/>
                <a:cs typeface="Helvetica Neue"/>
              </a:defRPr>
            </a:pPr>
            <a:r>
              <a:rPr sz="1575" b="1">
                <a:solidFill>
                  <a:srgbClr val="6BFF8B"/>
                </a:solidFill>
                <a:latin typeface="Helvetica Neue"/>
                <a:ea typeface="Helvetica Neue"/>
                <a:cs typeface="Helvetica Neue"/>
              </a:rPr>
              <a:t>Local protocol proof</a:t>
            </a:r>
          </a:p>
        </p:txBody>
      </p:sp>
      <p:sp>
        <p:nvSpPr>
          <p:cNvPr id="13" name="">
            <a:extLst xmlns:a="http://schemas.openxmlformats.org/drawingml/2006/main">
              <a:ext uri="{FF2B5EF4-FFF2-40B4-BE49-F238E27FC236}">
                <a16:creationId xmlns:a16="http://schemas.microsoft.com/office/drawing/2014/main" id="{742875F3-4DC0-4F09-BFA8-32102EF2B083}"/>
              </a:ext>
            </a:extLst>
          </p:cNvPr>
          <p:cNvSpPr>
            <a:spLocks xmlns:a="http://schemas.openxmlformats.org/drawingml/2006/main" noGrp="1"/>
          </p:cNvSpPr>
          <p:nvPr/>
        </p:nvSpPr>
        <p:spPr>
          <a:xfrm xmlns:a="http://schemas.openxmlformats.org/drawingml/2006/main">
            <a:off x="6477000" y="2257425"/>
            <a:ext cx="4286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9BB7A7"/>
                </a:solidFill>
                <a:latin typeface="Helvetica Neue"/>
                <a:ea typeface="Helvetica Neue"/>
                <a:cs typeface="Helvetica Neue"/>
              </a:defRPr>
            </a:pPr>
            <a:r>
              <a:rPr sz="1125" b="0">
                <a:solidFill>
                  <a:srgbClr val="9BB7A7"/>
                </a:solidFill>
                <a:latin typeface="Helvetica Neue"/>
                <a:ea typeface="Helvetica Neue"/>
                <a:cs typeface="Helvetica Neue"/>
              </a:rPr>
              <a:t>30 epochs, signed evidence, adversarial simulation</a:t>
            </a:r>
          </a:p>
        </p:txBody>
      </p:sp>
      <p:sp>
        <p:nvSpPr>
          <p:cNvPr id="14" name="">
            <a:extLst xmlns:a="http://schemas.openxmlformats.org/drawingml/2006/main">
              <a:ext uri="{FF2B5EF4-FFF2-40B4-BE49-F238E27FC236}">
                <a16:creationId xmlns:a16="http://schemas.microsoft.com/office/drawing/2014/main" id="{85A357C4-1097-4AD4-85F7-BE78C846F306}"/>
              </a:ext>
            </a:extLst>
          </p:cNvPr>
          <p:cNvSpPr>
            <a:spLocks xmlns:a="http://schemas.openxmlformats.org/drawingml/2006/main" noGrp="1"/>
          </p:cNvSpPr>
          <p:nvPr/>
        </p:nvSpPr>
        <p:spPr>
          <a:xfrm xmlns:a="http://schemas.openxmlformats.org/drawingml/2006/main">
            <a:off x="5876925" y="2276475"/>
            <a:ext cx="0" cy="666750"/>
          </a:xfrm>
          <a:prstGeom xmlns:a="http://schemas.openxmlformats.org/drawingml/2006/main" prst="line">
            <a:avLst/>
          </a:prstGeom>
          <a:noFill xmlns:a="http://schemas.openxmlformats.org/drawingml/2006/main"/>
          <a:ln xmlns:a="http://schemas.openxmlformats.org/drawingml/2006/main" w="19050">
            <a:solidFill>
              <a:srgbClr val="1F5138"/>
            </a:solidFill>
          </a:ln>
        </p:spPr>
      </p:sp>
      <p:sp>
        <p:nvSpPr>
          <p:cNvPr id="15" name="">
            <a:extLst xmlns:a="http://schemas.openxmlformats.org/drawingml/2006/main">
              <a:ext uri="{FF2B5EF4-FFF2-40B4-BE49-F238E27FC236}">
                <a16:creationId xmlns:a16="http://schemas.microsoft.com/office/drawing/2014/main" id="{0A7F1D78-5947-4AD8-9295-89BCC559A5E6}"/>
              </a:ext>
            </a:extLst>
          </p:cNvPr>
          <p:cNvSpPr>
            <a:spLocks xmlns:a="http://schemas.openxmlformats.org/drawingml/2006/main" noGrp="1"/>
          </p:cNvSpPr>
          <p:nvPr/>
        </p:nvSpPr>
        <p:spPr>
          <a:xfrm xmlns:a="http://schemas.openxmlformats.org/drawingml/2006/main">
            <a:off x="5476875" y="2933700"/>
            <a:ext cx="819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1">
                <a:solidFill>
                  <a:srgbClr val="F4D35E"/>
                </a:solidFill>
                <a:latin typeface="Helvetica Neue"/>
                <a:ea typeface="Helvetica Neue"/>
                <a:cs typeface="Helvetica Neue"/>
              </a:defRPr>
            </a:pPr>
            <a:r>
              <a:rPr sz="900" b="1">
                <a:solidFill>
                  <a:srgbClr val="F4D35E"/>
                </a:solidFill>
                <a:latin typeface="Helvetica Neue"/>
                <a:ea typeface="Helvetica Neue"/>
                <a:cs typeface="Helvetica Neue"/>
              </a:rPr>
              <a:t>NEXT</a:t>
            </a:r>
          </a:p>
        </p:txBody>
      </p:sp>
      <p:sp>
        <p:nvSpPr>
          <p:cNvPr id="16" name="">
            <a:extLst xmlns:a="http://schemas.openxmlformats.org/drawingml/2006/main">
              <a:ext uri="{FF2B5EF4-FFF2-40B4-BE49-F238E27FC236}">
                <a16:creationId xmlns:a16="http://schemas.microsoft.com/office/drawing/2014/main" id="{09E0121F-D71C-41FD-9B33-57B4C1C69E34}"/>
              </a:ext>
            </a:extLst>
          </p:cNvPr>
          <p:cNvSpPr>
            <a:spLocks xmlns:a="http://schemas.openxmlformats.org/drawingml/2006/main" noGrp="1"/>
          </p:cNvSpPr>
          <p:nvPr/>
        </p:nvSpPr>
        <p:spPr>
          <a:xfrm xmlns:a="http://schemas.openxmlformats.org/drawingml/2006/main">
            <a:off x="6477000" y="289560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F4D35E"/>
                </a:solidFill>
                <a:latin typeface="Helvetica Neue"/>
                <a:ea typeface="Helvetica Neue"/>
                <a:cs typeface="Helvetica Neue"/>
              </a:defRPr>
            </a:pPr>
            <a:r>
              <a:rPr sz="1575" b="1">
                <a:solidFill>
                  <a:srgbClr val="F4D35E"/>
                </a:solidFill>
                <a:latin typeface="Helvetica Neue"/>
                <a:ea typeface="Helvetica Neue"/>
                <a:cs typeface="Helvetica Neue"/>
              </a:rPr>
              <a:t>Dedicated testnet</a:t>
            </a:r>
          </a:p>
        </p:txBody>
      </p:sp>
      <p:sp>
        <p:nvSpPr>
          <p:cNvPr id="17" name="">
            <a:extLst xmlns:a="http://schemas.openxmlformats.org/drawingml/2006/main">
              <a:ext uri="{FF2B5EF4-FFF2-40B4-BE49-F238E27FC236}">
                <a16:creationId xmlns:a16="http://schemas.microsoft.com/office/drawing/2014/main" id="{88990AD7-7BCA-48B0-B5D0-8F9AC4900F2E}"/>
              </a:ext>
            </a:extLst>
          </p:cNvPr>
          <p:cNvSpPr>
            <a:spLocks xmlns:a="http://schemas.openxmlformats.org/drawingml/2006/main" noGrp="1"/>
          </p:cNvSpPr>
          <p:nvPr/>
        </p:nvSpPr>
        <p:spPr>
          <a:xfrm xmlns:a="http://schemas.openxmlformats.org/drawingml/2006/main">
            <a:off x="6477000" y="3238500"/>
            <a:ext cx="4286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9BB7A7"/>
                </a:solidFill>
                <a:latin typeface="Helvetica Neue"/>
                <a:ea typeface="Helvetica Neue"/>
                <a:cs typeface="Helvetica Neue"/>
              </a:defRPr>
            </a:pPr>
            <a:r>
              <a:rPr sz="1125" b="0">
                <a:solidFill>
                  <a:srgbClr val="9BB7A7"/>
                </a:solidFill>
                <a:latin typeface="Helvetica Neue"/>
                <a:ea typeface="Helvetica Neue"/>
                <a:cs typeface="Helvetica Neue"/>
              </a:rPr>
              <a:t>registered validator/miners, finalized weight readback</a:t>
            </a:r>
          </a:p>
        </p:txBody>
      </p:sp>
      <p:sp>
        <p:nvSpPr>
          <p:cNvPr id="18" name="">
            <a:extLst xmlns:a="http://schemas.openxmlformats.org/drawingml/2006/main">
              <a:ext uri="{FF2B5EF4-FFF2-40B4-BE49-F238E27FC236}">
                <a16:creationId xmlns:a16="http://schemas.microsoft.com/office/drawing/2014/main" id="{DA2FEFB4-0450-4DFF-BB5D-E0A248D2DFA5}"/>
              </a:ext>
            </a:extLst>
          </p:cNvPr>
          <p:cNvSpPr>
            <a:spLocks xmlns:a="http://schemas.openxmlformats.org/drawingml/2006/main" noGrp="1"/>
          </p:cNvSpPr>
          <p:nvPr/>
        </p:nvSpPr>
        <p:spPr>
          <a:xfrm xmlns:a="http://schemas.openxmlformats.org/drawingml/2006/main">
            <a:off x="5876925" y="3257550"/>
            <a:ext cx="0" cy="666750"/>
          </a:xfrm>
          <a:prstGeom xmlns:a="http://schemas.openxmlformats.org/drawingml/2006/main" prst="line">
            <a:avLst/>
          </a:prstGeom>
          <a:noFill xmlns:a="http://schemas.openxmlformats.org/drawingml/2006/main"/>
          <a:ln xmlns:a="http://schemas.openxmlformats.org/drawingml/2006/main" w="19050">
            <a:solidFill>
              <a:srgbClr val="1F5138"/>
            </a:solidFill>
          </a:ln>
        </p:spPr>
      </p:sp>
      <p:sp>
        <p:nvSpPr>
          <p:cNvPr id="19" name="">
            <a:extLst xmlns:a="http://schemas.openxmlformats.org/drawingml/2006/main">
              <a:ext uri="{FF2B5EF4-FFF2-40B4-BE49-F238E27FC236}">
                <a16:creationId xmlns:a16="http://schemas.microsoft.com/office/drawing/2014/main" id="{0AF4433A-2582-4F52-95E8-8B41A9B809C3}"/>
              </a:ext>
            </a:extLst>
          </p:cNvPr>
          <p:cNvSpPr>
            <a:spLocks xmlns:a="http://schemas.openxmlformats.org/drawingml/2006/main" noGrp="1"/>
          </p:cNvSpPr>
          <p:nvPr/>
        </p:nvSpPr>
        <p:spPr>
          <a:xfrm xmlns:a="http://schemas.openxmlformats.org/drawingml/2006/main">
            <a:off x="5476875" y="3914775"/>
            <a:ext cx="819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1">
                <a:solidFill>
                  <a:srgbClr val="F0FFF4"/>
                </a:solidFill>
                <a:latin typeface="Helvetica Neue"/>
                <a:ea typeface="Helvetica Neue"/>
                <a:cs typeface="Helvetica Neue"/>
              </a:defRPr>
            </a:pPr>
            <a:r>
              <a:rPr sz="900" b="1">
                <a:solidFill>
                  <a:srgbClr val="F0FFF4"/>
                </a:solidFill>
                <a:latin typeface="Helvetica Neue"/>
                <a:ea typeface="Helvetica Neue"/>
                <a:cs typeface="Helvetica Neue"/>
              </a:rPr>
              <a:t>THEN</a:t>
            </a:r>
          </a:p>
        </p:txBody>
      </p:sp>
      <p:sp>
        <p:nvSpPr>
          <p:cNvPr id="20" name="">
            <a:extLst xmlns:a="http://schemas.openxmlformats.org/drawingml/2006/main">
              <a:ext uri="{FF2B5EF4-FFF2-40B4-BE49-F238E27FC236}">
                <a16:creationId xmlns:a16="http://schemas.microsoft.com/office/drawing/2014/main" id="{E85BA12B-9291-4AE5-9FFC-7BEFF0100DFD}"/>
              </a:ext>
            </a:extLst>
          </p:cNvPr>
          <p:cNvSpPr>
            <a:spLocks xmlns:a="http://schemas.openxmlformats.org/drawingml/2006/main" noGrp="1"/>
          </p:cNvSpPr>
          <p:nvPr/>
        </p:nvSpPr>
        <p:spPr>
          <a:xfrm xmlns:a="http://schemas.openxmlformats.org/drawingml/2006/main">
            <a:off x="6477000" y="3876675"/>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F0FFF4"/>
                </a:solidFill>
                <a:latin typeface="Helvetica Neue"/>
                <a:ea typeface="Helvetica Neue"/>
                <a:cs typeface="Helvetica Neue"/>
              </a:defRPr>
            </a:pPr>
            <a:r>
              <a:rPr sz="1575" b="1">
                <a:solidFill>
                  <a:srgbClr val="F0FFF4"/>
                </a:solidFill>
                <a:latin typeface="Helvetica Neue"/>
                <a:ea typeface="Helvetica Neue"/>
                <a:cs typeface="Helvetica Neue"/>
              </a:rPr>
              <a:t>Independent validation</a:t>
            </a:r>
          </a:p>
        </p:txBody>
      </p:sp>
      <p:sp>
        <p:nvSpPr>
          <p:cNvPr id="21" name="">
            <a:extLst xmlns:a="http://schemas.openxmlformats.org/drawingml/2006/main">
              <a:ext uri="{FF2B5EF4-FFF2-40B4-BE49-F238E27FC236}">
                <a16:creationId xmlns:a16="http://schemas.microsoft.com/office/drawing/2014/main" id="{40417DE5-0447-4DE7-BD51-5EF0057B5C4D}"/>
              </a:ext>
            </a:extLst>
          </p:cNvPr>
          <p:cNvSpPr>
            <a:spLocks xmlns:a="http://schemas.openxmlformats.org/drawingml/2006/main" noGrp="1"/>
          </p:cNvSpPr>
          <p:nvPr/>
        </p:nvSpPr>
        <p:spPr>
          <a:xfrm xmlns:a="http://schemas.openxmlformats.org/drawingml/2006/main">
            <a:off x="6477000" y="4219575"/>
            <a:ext cx="4286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9BB7A7"/>
                </a:solidFill>
                <a:latin typeface="Helvetica Neue"/>
                <a:ea typeface="Helvetica Neue"/>
                <a:cs typeface="Helvetica Neue"/>
              </a:defRPr>
            </a:pPr>
            <a:r>
              <a:rPr sz="1125" b="0">
                <a:solidFill>
                  <a:srgbClr val="9BB7A7"/>
                </a:solidFill>
                <a:latin typeface="Helvetica Neue"/>
                <a:ea typeface="Helvetica Neue"/>
                <a:cs typeface="Helvetica Neue"/>
              </a:rPr>
              <a:t>separate operators and hardware calibration</a:t>
            </a:r>
          </a:p>
        </p:txBody>
      </p:sp>
      <p:sp>
        <p:nvSpPr>
          <p:cNvPr id="22" name="">
            <a:extLst xmlns:a="http://schemas.openxmlformats.org/drawingml/2006/main">
              <a:ext uri="{FF2B5EF4-FFF2-40B4-BE49-F238E27FC236}">
                <a16:creationId xmlns:a16="http://schemas.microsoft.com/office/drawing/2014/main" id="{DDA38FEE-989B-4246-A21E-70D8F45E7FCC}"/>
              </a:ext>
            </a:extLst>
          </p:cNvPr>
          <p:cNvSpPr>
            <a:spLocks xmlns:a="http://schemas.openxmlformats.org/drawingml/2006/main" noGrp="1"/>
          </p:cNvSpPr>
          <p:nvPr/>
        </p:nvSpPr>
        <p:spPr>
          <a:xfrm xmlns:a="http://schemas.openxmlformats.org/drawingml/2006/main">
            <a:off x="5876925" y="4238625"/>
            <a:ext cx="0" cy="666750"/>
          </a:xfrm>
          <a:prstGeom xmlns:a="http://schemas.openxmlformats.org/drawingml/2006/main" prst="line">
            <a:avLst/>
          </a:prstGeom>
          <a:noFill xmlns:a="http://schemas.openxmlformats.org/drawingml/2006/main"/>
          <a:ln xmlns:a="http://schemas.openxmlformats.org/drawingml/2006/main" w="19050">
            <a:solidFill>
              <a:srgbClr val="1F5138"/>
            </a:solidFill>
          </a:ln>
        </p:spPr>
      </p:sp>
      <p:sp>
        <p:nvSpPr>
          <p:cNvPr id="23" name="">
            <a:extLst xmlns:a="http://schemas.openxmlformats.org/drawingml/2006/main">
              <a:ext uri="{FF2B5EF4-FFF2-40B4-BE49-F238E27FC236}">
                <a16:creationId xmlns:a16="http://schemas.microsoft.com/office/drawing/2014/main" id="{B0218EB1-C905-4639-B904-DB8B3D252A0D}"/>
              </a:ext>
            </a:extLst>
          </p:cNvPr>
          <p:cNvSpPr>
            <a:spLocks xmlns:a="http://schemas.openxmlformats.org/drawingml/2006/main" noGrp="1"/>
          </p:cNvSpPr>
          <p:nvPr/>
        </p:nvSpPr>
        <p:spPr>
          <a:xfrm xmlns:a="http://schemas.openxmlformats.org/drawingml/2006/main">
            <a:off x="5476875" y="4895850"/>
            <a:ext cx="819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1">
                <a:solidFill>
                  <a:srgbClr val="9BB7A7"/>
                </a:solidFill>
                <a:latin typeface="Helvetica Neue"/>
                <a:ea typeface="Helvetica Neue"/>
                <a:cs typeface="Helvetica Neue"/>
              </a:defRPr>
            </a:pPr>
            <a:r>
              <a:rPr sz="900" b="1">
                <a:solidFill>
                  <a:srgbClr val="9BB7A7"/>
                </a:solidFill>
                <a:latin typeface="Helvetica Neue"/>
                <a:ea typeface="Helvetica Neue"/>
                <a:cs typeface="Helvetica Neue"/>
              </a:rPr>
              <a:t>LATER</a:t>
            </a:r>
          </a:p>
        </p:txBody>
      </p:sp>
      <p:sp>
        <p:nvSpPr>
          <p:cNvPr id="24" name="">
            <a:extLst xmlns:a="http://schemas.openxmlformats.org/drawingml/2006/main">
              <a:ext uri="{FF2B5EF4-FFF2-40B4-BE49-F238E27FC236}">
                <a16:creationId xmlns:a16="http://schemas.microsoft.com/office/drawing/2014/main" id="{8EAEC2B4-1D7A-4036-B871-350CF6ACE3F7}"/>
              </a:ext>
            </a:extLst>
          </p:cNvPr>
          <p:cNvSpPr>
            <a:spLocks xmlns:a="http://schemas.openxmlformats.org/drawingml/2006/main" noGrp="1"/>
          </p:cNvSpPr>
          <p:nvPr/>
        </p:nvSpPr>
        <p:spPr>
          <a:xfrm xmlns:a="http://schemas.openxmlformats.org/drawingml/2006/main">
            <a:off x="6477000" y="485775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9BB7A7"/>
                </a:solidFill>
                <a:latin typeface="Helvetica Neue"/>
                <a:ea typeface="Helvetica Neue"/>
                <a:cs typeface="Helvetica Neue"/>
              </a:defRPr>
            </a:pPr>
            <a:r>
              <a:rPr sz="1575" b="1">
                <a:solidFill>
                  <a:srgbClr val="9BB7A7"/>
                </a:solidFill>
                <a:latin typeface="Helvetica Neue"/>
                <a:ea typeface="Helvetica Neue"/>
                <a:cs typeface="Helvetica Neue"/>
              </a:rPr>
              <a:t>Buyer adapters</a:t>
            </a:r>
          </a:p>
        </p:txBody>
      </p:sp>
      <p:sp>
        <p:nvSpPr>
          <p:cNvPr id="25" name="">
            <a:extLst xmlns:a="http://schemas.openxmlformats.org/drawingml/2006/main">
              <a:ext uri="{FF2B5EF4-FFF2-40B4-BE49-F238E27FC236}">
                <a16:creationId xmlns:a16="http://schemas.microsoft.com/office/drawing/2014/main" id="{D84F2587-1077-42E1-8E11-C670E4838762}"/>
              </a:ext>
            </a:extLst>
          </p:cNvPr>
          <p:cNvSpPr>
            <a:spLocks xmlns:a="http://schemas.openxmlformats.org/drawingml/2006/main" noGrp="1"/>
          </p:cNvSpPr>
          <p:nvPr/>
        </p:nvSpPr>
        <p:spPr>
          <a:xfrm xmlns:a="http://schemas.openxmlformats.org/drawingml/2006/main">
            <a:off x="6477000" y="5200650"/>
            <a:ext cx="4286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9BB7A7"/>
                </a:solidFill>
                <a:latin typeface="Helvetica Neue"/>
                <a:ea typeface="Helvetica Neue"/>
                <a:cs typeface="Helvetica Neue"/>
              </a:defRPr>
            </a:pPr>
            <a:r>
              <a:rPr sz="1125" b="0">
                <a:solidFill>
                  <a:srgbClr val="9BB7A7"/>
                </a:solidFill>
                <a:latin typeface="Helvetica Neue"/>
                <a:ea typeface="Helvetica Neue"/>
                <a:cs typeface="Helvetica Neue"/>
              </a:rPr>
              <a:t>DuckDB, PostgreSQL, private workload integration</a:t>
            </a:r>
          </a:p>
        </p:txBody>
      </p:sp>
      <p:sp>
        <p:nvSpPr>
          <p:cNvPr id="26" name="">
            <a:extLst xmlns:a="http://schemas.openxmlformats.org/drawingml/2006/main">
              <a:ext uri="{FF2B5EF4-FFF2-40B4-BE49-F238E27FC236}">
                <a16:creationId xmlns:a16="http://schemas.microsoft.com/office/drawing/2014/main" id="{44FE4A7D-F0E0-4DF0-BDA0-562E4E6CC7BA}"/>
              </a:ext>
            </a:extLst>
          </p:cNvPr>
          <p:cNvSpPr>
            <a:spLocks xmlns:a="http://schemas.openxmlformats.org/drawingml/2006/main" noGrp="1"/>
          </p:cNvSpPr>
          <p:nvPr/>
        </p:nvSpPr>
        <p:spPr>
          <a:xfrm xmlns:a="http://schemas.openxmlformats.org/drawingml/2006/main">
            <a:off x="5476875" y="5905500"/>
            <a:ext cx="571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F4D35E"/>
                </a:solidFill>
                <a:latin typeface="Helvetica Neue"/>
                <a:ea typeface="Helvetica Neue"/>
                <a:cs typeface="Helvetica Neue"/>
              </a:defRPr>
            </a:pPr>
            <a:r>
              <a:rPr sz="1200" b="1">
                <a:solidFill>
                  <a:srgbClr val="F4D35E"/>
                </a:solidFill>
                <a:latin typeface="Helvetica Neue"/>
                <a:ea typeface="Helvetica Neue"/>
                <a:cs typeface="Helvetica Neue"/>
              </a:rPr>
              <a:t>Testnet evidence will replace the pending section only after finalized chain readback.</a:t>
            </a:r>
          </a:p>
        </p:txBody>
      </p:sp>
    </p:spTree>
    <p:extLst>
      <p:ext uri="{BB962C8B-B14F-4D97-AF65-F5344CB8AC3E}">
        <p14:creationId xmlns:p14="http://schemas.microsoft.com/office/powerpoint/2010/main" val="691606967"/>
      </p:ext>
    </p:extLst>
  </p:cSld>
</p:sld>
</file>

<file path=ppt/slides/slide10.xml><?xml version="1.0" encoding="utf-8"?>
<p:sld xmlns:p="http://schemas.openxmlformats.org/presentationml/2006/main">
  <p:cSld>
    <p:bg>
      <p:bgPr>
        <a:solidFill xmlns:a="http://schemas.openxmlformats.org/drawingml/2006/main">
          <a:srgbClr val="03110C"/>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7232a4b93ead4d0d"/>
          <a:stretch xmlns:a="http://schemas.openxmlformats.org/drawingml/2006/main"/>
        </p:blipFill>
        <p:spPr>
          <a:xfrm xmlns:a="http://schemas.openxmlformats.org/drawingml/2006/main">
            <a:off x="5467350" y="685800"/>
            <a:ext cx="1257300" cy="1257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D941BDE-60D0-4341-9AA2-D03C85089D36}"/>
              </a:ext>
            </a:extLst>
          </p:cNvPr>
          <p:cNvSpPr>
            <a:spLocks xmlns:a="http://schemas.openxmlformats.org/drawingml/2006/main" noGrp="1"/>
          </p:cNvSpPr>
          <p:nvPr/>
        </p:nvSpPr>
        <p:spPr>
          <a:xfrm xmlns:a="http://schemas.openxmlformats.org/drawingml/2006/main">
            <a:off x="3048000" y="2190750"/>
            <a:ext cx="609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450" b="1">
                <a:solidFill>
                  <a:srgbClr val="F0FFF4"/>
                </a:solidFill>
                <a:latin typeface="Helvetica Neue"/>
                <a:ea typeface="Helvetica Neue"/>
                <a:cs typeface="Helvetica Neue"/>
              </a:defRPr>
            </a:pPr>
            <a:r>
              <a:rPr sz="3450" b="1">
                <a:solidFill>
                  <a:srgbClr val="F0FFF4"/>
                </a:solidFill>
                <a:latin typeface="Helvetica Neue"/>
                <a:ea typeface="Helvetica Neue"/>
                <a:cs typeface="Helvetica Neue"/>
              </a:rPr>
              <a:t>PlanRace</a:t>
            </a:r>
          </a:p>
        </p:txBody>
      </p:sp>
      <p:sp>
        <p:nvSpPr>
          <p:cNvPr id="3" name="">
            <a:extLst xmlns:a="http://schemas.openxmlformats.org/drawingml/2006/main">
              <a:ext uri="{FF2B5EF4-FFF2-40B4-BE49-F238E27FC236}">
                <a16:creationId xmlns:a16="http://schemas.microsoft.com/office/drawing/2014/main" id="{11D4787C-9427-4004-97C8-85A77BF2423E}"/>
              </a:ext>
            </a:extLst>
          </p:cNvPr>
          <p:cNvSpPr>
            <a:spLocks xmlns:a="http://schemas.openxmlformats.org/drawingml/2006/main" noGrp="1"/>
          </p:cNvSpPr>
          <p:nvPr/>
        </p:nvSpPr>
        <p:spPr>
          <a:xfrm xmlns:a="http://schemas.openxmlformats.org/drawingml/2006/main">
            <a:off x="2381250" y="2838450"/>
            <a:ext cx="7429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950" b="1">
                <a:solidFill>
                  <a:srgbClr val="6BFF8B"/>
                </a:solidFill>
                <a:latin typeface="Helvetica Neue"/>
                <a:ea typeface="Helvetica Neue"/>
                <a:cs typeface="Helvetica Neue"/>
              </a:defRPr>
            </a:pPr>
            <a:r>
              <a:rPr sz="1950" b="1">
                <a:solidFill>
                  <a:srgbClr val="6BFF8B"/>
                </a:solidFill>
                <a:latin typeface="Helvetica Neue"/>
                <a:ea typeface="Helvetica Neue"/>
                <a:cs typeface="Helvetica Neue"/>
              </a:rPr>
              <a:t>The competitive market for verified query plans</a:t>
            </a:r>
          </a:p>
        </p:txBody>
      </p:sp>
      <p:sp>
        <p:nvSpPr>
          <p:cNvPr id="4" name="">
            <a:extLst xmlns:a="http://schemas.openxmlformats.org/drawingml/2006/main">
              <a:ext uri="{FF2B5EF4-FFF2-40B4-BE49-F238E27FC236}">
                <a16:creationId xmlns:a16="http://schemas.microsoft.com/office/drawing/2014/main" id="{BC2AB4D1-3701-4C42-A76E-188F1E2F4A69}"/>
              </a:ext>
            </a:extLst>
          </p:cNvPr>
          <p:cNvSpPr>
            <a:spLocks xmlns:a="http://schemas.openxmlformats.org/drawingml/2006/main" noGrp="1"/>
          </p:cNvSpPr>
          <p:nvPr/>
        </p:nvSpPr>
        <p:spPr>
          <a:xfrm xmlns:a="http://schemas.openxmlformats.org/drawingml/2006/main">
            <a:off x="1524000" y="39433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9BB7A7"/>
                </a:solidFill>
                <a:latin typeface="Helvetica Neue"/>
                <a:ea typeface="Helvetica Neue"/>
                <a:cs typeface="Helvetica Neue"/>
              </a:defRPr>
            </a:pPr>
            <a:r>
              <a:rPr sz="1050" b="1">
                <a:solidFill>
                  <a:srgbClr val="9BB7A7"/>
                </a:solidFill>
                <a:latin typeface="Helvetica Neue"/>
                <a:ea typeface="Helvetica Neue"/>
                <a:cs typeface="Helvetica Neue"/>
              </a:rPr>
              <a:t>Checkpoint claim</a:t>
            </a:r>
          </a:p>
        </p:txBody>
      </p:sp>
      <p:sp>
        <p:nvSpPr>
          <p:cNvPr id="5" name="">
            <a:extLst xmlns:a="http://schemas.openxmlformats.org/drawingml/2006/main">
              <a:ext uri="{FF2B5EF4-FFF2-40B4-BE49-F238E27FC236}">
                <a16:creationId xmlns:a16="http://schemas.microsoft.com/office/drawing/2014/main" id="{77807F46-40C0-4EBD-90FB-D7817A2A3E99}"/>
              </a:ext>
            </a:extLst>
          </p:cNvPr>
          <p:cNvSpPr>
            <a:spLocks xmlns:a="http://schemas.openxmlformats.org/drawingml/2006/main" noGrp="1"/>
          </p:cNvSpPr>
          <p:nvPr/>
        </p:nvSpPr>
        <p:spPr>
          <a:xfrm xmlns:a="http://schemas.openxmlformats.org/drawingml/2006/main">
            <a:off x="904875" y="4295775"/>
            <a:ext cx="3714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F0FFF4"/>
                </a:solidFill>
                <a:latin typeface="Helvetica Neue"/>
                <a:ea typeface="Helvetica Neue"/>
                <a:cs typeface="Helvetica Neue"/>
              </a:defRPr>
            </a:pPr>
            <a:r>
              <a:rPr sz="1500" b="1">
                <a:solidFill>
                  <a:srgbClr val="F0FFF4"/>
                </a:solidFill>
                <a:latin typeface="Helvetica Neue"/>
                <a:ea typeface="Helvetica Neue"/>
                <a:cs typeface="Helvetica Neue"/>
              </a:rPr>
              <a:t>Mechanism + local execution verified</a:t>
            </a:r>
          </a:p>
        </p:txBody>
      </p:sp>
      <p:sp>
        <p:nvSpPr>
          <p:cNvPr id="6" name="">
            <a:extLst xmlns:a="http://schemas.openxmlformats.org/drawingml/2006/main">
              <a:ext uri="{FF2B5EF4-FFF2-40B4-BE49-F238E27FC236}">
                <a16:creationId xmlns:a16="http://schemas.microsoft.com/office/drawing/2014/main" id="{825B75D3-4C1C-4EC1-8A33-5AF62B838260}"/>
              </a:ext>
            </a:extLst>
          </p:cNvPr>
          <p:cNvSpPr>
            <a:spLocks xmlns:a="http://schemas.openxmlformats.org/drawingml/2006/main" noGrp="1"/>
          </p:cNvSpPr>
          <p:nvPr/>
        </p:nvSpPr>
        <p:spPr>
          <a:xfrm xmlns:a="http://schemas.openxmlformats.org/drawingml/2006/main">
            <a:off x="8191500" y="39433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9BB7A7"/>
                </a:solidFill>
                <a:latin typeface="Helvetica Neue"/>
                <a:ea typeface="Helvetica Neue"/>
                <a:cs typeface="Helvetica Neue"/>
              </a:defRPr>
            </a:pPr>
            <a:r>
              <a:rPr sz="1050" b="1">
                <a:solidFill>
                  <a:srgbClr val="9BB7A7"/>
                </a:solidFill>
                <a:latin typeface="Helvetica Neue"/>
                <a:ea typeface="Helvetica Neue"/>
                <a:cs typeface="Helvetica Neue"/>
              </a:rPr>
              <a:t>Final gate</a:t>
            </a:r>
          </a:p>
        </p:txBody>
      </p:sp>
      <p:sp>
        <p:nvSpPr>
          <p:cNvPr id="7" name="">
            <a:extLst xmlns:a="http://schemas.openxmlformats.org/drawingml/2006/main">
              <a:ext uri="{FF2B5EF4-FFF2-40B4-BE49-F238E27FC236}">
                <a16:creationId xmlns:a16="http://schemas.microsoft.com/office/drawing/2014/main" id="{D510E192-805C-4953-80B3-CB8515569AEE}"/>
              </a:ext>
            </a:extLst>
          </p:cNvPr>
          <p:cNvSpPr>
            <a:spLocks xmlns:a="http://schemas.openxmlformats.org/drawingml/2006/main" noGrp="1"/>
          </p:cNvSpPr>
          <p:nvPr/>
        </p:nvSpPr>
        <p:spPr>
          <a:xfrm xmlns:a="http://schemas.openxmlformats.org/drawingml/2006/main">
            <a:off x="7572375" y="4295775"/>
            <a:ext cx="3714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F4D35E"/>
                </a:solidFill>
                <a:latin typeface="Helvetica Neue"/>
                <a:ea typeface="Helvetica Neue"/>
                <a:cs typeface="Helvetica Neue"/>
              </a:defRPr>
            </a:pPr>
            <a:r>
              <a:rPr sz="1500" b="1">
                <a:solidFill>
                  <a:srgbClr val="F4D35E"/>
                </a:solidFill>
                <a:latin typeface="Helvetica Neue"/>
                <a:ea typeface="Helvetica Neue"/>
                <a:cs typeface="Helvetica Neue"/>
              </a:rPr>
              <a:t>Public testnet evidence pending</a:t>
            </a:r>
          </a:p>
        </p:txBody>
      </p:sp>
      <p:sp>
        <p:nvSpPr>
          <p:cNvPr id="8" name="">
            <a:extLst xmlns:a="http://schemas.openxmlformats.org/drawingml/2006/main">
              <a:ext uri="{FF2B5EF4-FFF2-40B4-BE49-F238E27FC236}">
                <a16:creationId xmlns:a16="http://schemas.microsoft.com/office/drawing/2014/main" id="{5D1756B9-45B5-4445-8435-3F1B122F85DF}"/>
              </a:ext>
            </a:extLst>
          </p:cNvPr>
          <p:cNvSpPr>
            <a:spLocks xmlns:a="http://schemas.openxmlformats.org/drawingml/2006/main" noGrp="1"/>
          </p:cNvSpPr>
          <p:nvPr/>
        </p:nvSpPr>
        <p:spPr>
          <a:xfrm xmlns:a="http://schemas.openxmlformats.org/drawingml/2006/main">
            <a:off x="6096000" y="3752850"/>
            <a:ext cx="0" cy="1428750"/>
          </a:xfrm>
          <a:prstGeom xmlns:a="http://schemas.openxmlformats.org/drawingml/2006/main" prst="line">
            <a:avLst/>
          </a:prstGeom>
          <a:noFill xmlns:a="http://schemas.openxmlformats.org/drawingml/2006/main"/>
          <a:ln xmlns:a="http://schemas.openxmlformats.org/drawingml/2006/main" w="19050">
            <a:solidFill>
              <a:srgbClr val="1F5138"/>
            </a:solidFill>
          </a:ln>
        </p:spPr>
      </p:sp>
      <p:sp>
        <p:nvSpPr>
          <p:cNvPr id="9" name="">
            <a:extLst xmlns:a="http://schemas.openxmlformats.org/drawingml/2006/main">
              <a:ext uri="{FF2B5EF4-FFF2-40B4-BE49-F238E27FC236}">
                <a16:creationId xmlns:a16="http://schemas.microsoft.com/office/drawing/2014/main" id="{551643E1-1CE7-44E9-B2F2-5B236DFAE1CE}"/>
              </a:ext>
            </a:extLst>
          </p:cNvPr>
          <p:cNvSpPr>
            <a:spLocks xmlns:a="http://schemas.openxmlformats.org/drawingml/2006/main" noGrp="1"/>
          </p:cNvSpPr>
          <p:nvPr/>
        </p:nvSpPr>
        <p:spPr>
          <a:xfrm xmlns:a="http://schemas.openxmlformats.org/drawingml/2006/main">
            <a:off x="2571750" y="5619750"/>
            <a:ext cx="704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a:solidFill>
                  <a:srgbClr val="F0FFF4"/>
                </a:solidFill>
                <a:latin typeface="Helvetica Neue"/>
                <a:ea typeface="Helvetica Neue"/>
                <a:cs typeface="Helvetica Neue"/>
              </a:defRPr>
            </a:pPr>
            <a:r>
              <a:rPr sz="1275" b="0">
                <a:solidFill>
                  <a:srgbClr val="F0FFF4"/>
                </a:solidFill>
                <a:latin typeface="Helvetica Neue"/>
                <a:ea typeface="Helvetica Neue"/>
                <a:cs typeface="Helvetica Neue"/>
              </a:rPr>
              <a:t>planrace-subnet.vercel.app</a:t>
            </a:r>
          </a:p>
        </p:txBody>
      </p:sp>
      <p:sp>
        <p:nvSpPr>
          <p:cNvPr id="10" name="">
            <a:extLst xmlns:a="http://schemas.openxmlformats.org/drawingml/2006/main">
              <a:ext uri="{FF2B5EF4-FFF2-40B4-BE49-F238E27FC236}">
                <a16:creationId xmlns:a16="http://schemas.microsoft.com/office/drawing/2014/main" id="{5D3CA71C-C504-4D24-BEAF-5CE746EB84AB}"/>
              </a:ext>
            </a:extLst>
          </p:cNvPr>
          <p:cNvSpPr>
            <a:spLocks xmlns:a="http://schemas.openxmlformats.org/drawingml/2006/main" noGrp="1"/>
          </p:cNvSpPr>
          <p:nvPr/>
        </p:nvSpPr>
        <p:spPr>
          <a:xfrm xmlns:a="http://schemas.openxmlformats.org/drawingml/2006/main">
            <a:off x="2571750" y="5953125"/>
            <a:ext cx="704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a:solidFill>
                  <a:srgbClr val="9BB7A7"/>
                </a:solidFill>
                <a:latin typeface="Helvetica Neue"/>
                <a:ea typeface="Helvetica Neue"/>
                <a:cs typeface="Helvetica Neue"/>
              </a:defRPr>
            </a:pPr>
            <a:r>
              <a:rPr sz="1275" b="0">
                <a:solidFill>
                  <a:srgbClr val="9BB7A7"/>
                </a:solidFill>
                <a:latin typeface="Helvetica Neue"/>
                <a:ea typeface="Helvetica Neue"/>
                <a:cs typeface="Helvetica Neue"/>
              </a:rPr>
              <a:t>github.com/dorakingx/planrace-subnet</a:t>
            </a:r>
          </a:p>
        </p:txBody>
      </p:sp>
    </p:spTree>
    <p:extLst>
      <p:ext uri="{BB962C8B-B14F-4D97-AF65-F5344CB8AC3E}">
        <p14:creationId xmlns:p14="http://schemas.microsoft.com/office/powerpoint/2010/main" val="5241130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2026-09-06T10:25:54.6040000Z</dcterms:created>
  <dcterms:modified xsi:type="dcterms:W3CDTF">2026-09-06T10:25:54.6050000Z</dcterms:modified>
</coreProperties>
</file>